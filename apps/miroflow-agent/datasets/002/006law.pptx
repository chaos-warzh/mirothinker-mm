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425.xml"/>
  <Override ContentType="application/vnd.openxmlformats-officedocument.presentationml.tags+xml" PartName="/ppt/tags/tag2423.xml"/>
  <Override ContentType="application/vnd.openxmlformats-officedocument.presentationml.tags+xml" PartName="/ppt/tags/tag2424.xml"/>
  <Override ContentType="application/vnd.openxmlformats-officedocument.presentationml.tags+xml" PartName="/ppt/tags/tag2428.xml"/>
  <Override ContentType="application/vnd.openxmlformats-officedocument.presentationml.tags+xml" PartName="/ppt/tags/tag2429.xml"/>
  <Override ContentType="application/vnd.openxmlformats-officedocument.presentationml.tags+xml" PartName="/ppt/tags/tag3122.xml"/>
  <Override ContentType="application/vnd.openxmlformats-officedocument.presentationml.tags+xml" PartName="/ppt/tags/tag3927.xml"/>
  <Override ContentType="application/vnd.openxmlformats-officedocument.presentationml.tags+xml" PartName="/ppt/tags/tag5126.xml"/>
  <Override ContentType="application/vnd.openxmlformats-officedocument.presentationml.tags+xml" PartName="/ppt/tags/tag10210.xml"/>
  <Override ContentType="application/vnd.openxmlformats-officedocument.presentationml.tags+xml" PartName="/ppt/tags/tag14216.xml"/>
  <Override ContentType="application/vnd.openxmlformats-officedocument.presentationml.tags+xml" PartName="/ppt/tags/tag15213.xml"/>
  <Override ContentType="application/vnd.openxmlformats-officedocument.presentationml.tags+xml" PartName="/ppt/tags/tag26214.xml"/>
  <Override ContentType="application/vnd.openxmlformats-officedocument.presentationml.tags+xml" PartName="/ppt/tags/tag46211.xml"/>
  <Override ContentType="application/vnd.openxmlformats-officedocument.presentationml.tags+xml" PartName="/ppt/tags/tag46212.xml"/>
  <Override ContentType="application/vnd.openxmlformats-officedocument.presentationml.tags+xml" PartName="/ppt/tags/tag662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dd5ff93cb40a44d2"/>
    <p:sldId id="257" r:id="Rf5fab881423945fb"/>
    <p:sldId id="258" r:id="R27a8a39315484f30"/>
    <p:sldId id="259" r:id="Rdfd2b555d73149d9"/>
    <p:sldId id="260" r:id="R409e2dfbdcc648ee"/>
    <p:sldId id="261" r:id="R79c7d2d276334ec3"/>
    <p:sldId id="262" r:id="Raea58ef2b29648ab"/>
    <p:sldId id="263" r:id="Rea33234e8ea64831"/>
    <p:sldId id="264" r:id="R2ca71f8edbb447a6"/>
    <p:sldId id="265" r:id="Re89d312b2a0c4e95"/>
    <p:sldId id="266" r:id="R3039b246a5fb4262"/>
    <p:sldId id="267" r:id="Rb0ccfdaa9cdb4bb6"/>
    <p:sldId id="268" r:id="Rde88183987bc49d1"/>
    <p:sldId id="269" r:id="R59d4b0b0e68c4cac"/>
    <p:sldId id="270" r:id="Rc2e4d4cf1b0847c5"/>
    <p:sldId id="271" r:id="R0f8a74ff2ab04ba2"/>
    <p:sldId id="272" r:id="R2851f6f5731f4a57"/>
    <p:sldId id="273" r:id="Rc66419b72b574338"/>
    <p:sldId id="274" r:id="R37bd32ceb02740fb"/>
    <p:sldId id="275" r:id="Rb9165223e8564130"/>
    <p:sldId id="276" r:id="Rdb1e1c165e084347"/>
    <p:sldId id="277" r:id="R028b29b0a3dc4a33"/>
    <p:sldId id="278" r:id="Rd2dcfb0628974cad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51" autoAdjust="0"/>
  </p:normalViewPr>
  <p:slideViewPr>
    <p:cSldViewPr snapToGrid="0" showGuides="1">
      <p:cViewPr varScale="1">
        <p:scale>
          <a:sx n="60" d="100"/>
          <a:sy n="60" d="100"/>
        </p:scale>
        <p:origin x="96" y="115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028b29b0a3dc4a33" Target="slides/slide27.xml" Type="http://schemas.openxmlformats.org/officeDocument/2006/relationships/slide"/><Relationship Id="R0f8a74ff2ab04ba2" Target="slides/slide21.xml" Type="http://schemas.openxmlformats.org/officeDocument/2006/relationships/slide"/><Relationship Id="R27a8a39315484f30" Target="slides/slide8.xml" Type="http://schemas.openxmlformats.org/officeDocument/2006/relationships/slide"/><Relationship Id="R2851f6f5731f4a57" Target="slides/slide22.xml" Type="http://schemas.openxmlformats.org/officeDocument/2006/relationships/slide"/><Relationship Id="R2ca71f8edbb447a6" Target="slides/slide14.xml" Type="http://schemas.openxmlformats.org/officeDocument/2006/relationships/slide"/><Relationship Id="R3039b246a5fb4262" Target="slides/slide16.xml" Type="http://schemas.openxmlformats.org/officeDocument/2006/relationships/slide"/><Relationship Id="R37bd32ceb02740fb" Target="slides/slide24.xml" Type="http://schemas.openxmlformats.org/officeDocument/2006/relationships/slide"/><Relationship Id="R409e2dfbdcc648ee" Target="slides/slide10.xml" Type="http://schemas.openxmlformats.org/officeDocument/2006/relationships/slide"/><Relationship Id="R59d4b0b0e68c4cac" Target="slides/slide19.xml" Type="http://schemas.openxmlformats.org/officeDocument/2006/relationships/slide"/><Relationship Id="R79c7d2d276334ec3" Target="slides/slide11.xml" Type="http://schemas.openxmlformats.org/officeDocument/2006/relationships/slide"/><Relationship Id="Raea58ef2b29648ab" Target="slides/slide12.xml" Type="http://schemas.openxmlformats.org/officeDocument/2006/relationships/slide"/><Relationship Id="Rb0ccfdaa9cdb4bb6" Target="slides/slide17.xml" Type="http://schemas.openxmlformats.org/officeDocument/2006/relationships/slide"/><Relationship Id="Rb9165223e8564130" Target="slides/slide25.xml" Type="http://schemas.openxmlformats.org/officeDocument/2006/relationships/slide"/><Relationship Id="Rc2e4d4cf1b0847c5" Target="slides/slide20.xml" Type="http://schemas.openxmlformats.org/officeDocument/2006/relationships/slide"/><Relationship Id="Rc66419b72b574338" Target="slides/slide23.xml" Type="http://schemas.openxmlformats.org/officeDocument/2006/relationships/slide"/><Relationship Id="Rd2dcfb0628974cad" Target="slides/slide28.xml" Type="http://schemas.openxmlformats.org/officeDocument/2006/relationships/slide"/><Relationship Id="Rdb1e1c165e084347" Target="slides/slide26.xml" Type="http://schemas.openxmlformats.org/officeDocument/2006/relationships/slide"/><Relationship Id="Rdd5ff93cb40a44d2" Target="slides/slide6.xml" Type="http://schemas.openxmlformats.org/officeDocument/2006/relationships/slide"/><Relationship Id="Rde88183987bc49d1" Target="slides/slide18.xml" Type="http://schemas.openxmlformats.org/officeDocument/2006/relationships/slide"/><Relationship Id="Rdfd2b555d73149d9" Target="slides/slide9.xml" Type="http://schemas.openxmlformats.org/officeDocument/2006/relationships/slide"/><Relationship Id="Re89d312b2a0c4e95" Target="slides/slide15.xml" Type="http://schemas.openxmlformats.org/officeDocument/2006/relationships/slide"/><Relationship Id="Rea33234e8ea64831" Target="slides/slide13.xml" Type="http://schemas.openxmlformats.org/officeDocument/2006/relationships/slide"/><Relationship Id="Rf5fab881423945fb" Target="slides/slide7.xml" Type="http://schemas.openxmlformats.org/officeDocument/2006/relationships/slide"/><Relationship Id="rId1" Target="slideMasters/slideMaster1.xml" Type="http://schemas.openxmlformats.org/officeDocument/2006/relationships/slideMaster"/><Relationship Id="rId15" Target="tags/tag1.xml" Type="http://schemas.openxmlformats.org/officeDocument/2006/relationships/tags"/><Relationship Id="rId16" Target="presProps.xml" Type="http://schemas.openxmlformats.org/officeDocument/2006/relationships/presProps"/><Relationship Id="rId17" Target="viewProps.xml" Type="http://schemas.openxmlformats.org/officeDocument/2006/relationships/viewProps"/><Relationship Id="rId18" Target="theme/theme1.xml" Type="http://schemas.openxmlformats.org/officeDocument/2006/relationships/theme"/><Relationship Id="rId19" Target="tableStyles.xml" Type="http://schemas.openxmlformats.org/officeDocument/2006/relationships/tableStyles"/><Relationship Id="rId2" Target="notesMasters/notesMaster1.xml" Type="http://schemas.openxmlformats.org/officeDocument/2006/relationships/notes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08345-5BC1-4279-8A0C-53C64F9A5A91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B845C-6718-4222-B43C-226B0389E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1374225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Rectangle 4" descr="4b55bac6-ce7a-4ccf-b10f-d62562ef41d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extLst>
                <a:ext uri="{28A0092B-C50C-407E-A947-70E740481C1C}">
                  <a14:useLocalDpi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 descr="2e399d6f-9af0-45ca-a7a6-cd19600ea906"/>
          <p:cNvSpPr>
            <a:spLocks noGrp="1"/>
          </p:cNvSpPr>
          <p:nvPr>
            <p:ph type="ctrTitle" hasCustomPrompt="1"/>
          </p:nvPr>
        </p:nvSpPr>
        <p:spPr>
          <a:xfrm>
            <a:off x="5178285" y="2243897"/>
            <a:ext cx="6340615" cy="2370206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Subtitle 2" descr="21ebea1f-c31e-4704-a7ff-06835433ce1b"/>
          <p:cNvSpPr>
            <a:spLocks noGrp="1"/>
          </p:cNvSpPr>
          <p:nvPr>
            <p:ph type="subTitle" idx="1" hasCustomPrompt="1"/>
          </p:nvPr>
        </p:nvSpPr>
        <p:spPr>
          <a:xfrm>
            <a:off x="5178285" y="4614103"/>
            <a:ext cx="5914513" cy="508703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add subtitle</a:t>
            </a:r>
            <a:endParaRPr lang="en-US"/>
          </a:p>
        </p:txBody>
      </p:sp>
      <p:sp>
        <p:nvSpPr>
          <p:cNvPr id="4" name="Text Placeholder 3" descr="7ecef049-d426-4651-901f-2f070ff85afc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6374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6" name="Text Placeholder 4294967294" descr="cbca7563-5974-42ca-8a3b-e3a7f0f00773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978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 descr="170767f3-7026-4e18-950f-741f4e48a96b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Content Placeholder 2" descr="63012edb-d7f2-41c7-b040-3358dde637b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 descr="74929eda-b5fc-4574-82f2-f399edd7831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 descr="6f3e2228-58c8-44c9-b587-ebe16512b47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b1b825e1-8841-4a59-b4b1-d0bfdc6a0bf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 descr="4d8fa97f-f662-4e66-a2b7-43f1d58cf929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 descr="69797d12-0582-4fbe-8580-88e68a7dc033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5" name="Date Placeholder 4" descr="1d081a23-1260-41e3-b24a-38f7062882d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6" name="Footer Placeholder 5" descr="99f6b17a-36d4-4d2b-bb89-d3acb883cf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descr="bb6ba98c-d130-4b93-8e45-ab73b153fe6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 descr="0d6f4e98-cef9-4e37-9da1-a79b53200d54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Freeform: Shape 8" descr="90ab58c2-57e7-4702-944f-76d78e9cdcd6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Rectangle 6" descr="dcf0b782-e2b8-4bab-afa1-ea9192fd34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extLst>
                <a:ext uri="{28A0092B-C50C-407E-A947-70E740481C1C}">
                  <a14:useLocalDpi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 descr="e432bed3-95bb-4ff9-a468-9817f6fd6cdb"/>
          <p:cNvSpPr>
            <a:spLocks noGrp="1"/>
          </p:cNvSpPr>
          <p:nvPr>
            <p:ph type="title" hasCustomPrompt="1"/>
          </p:nvPr>
        </p:nvSpPr>
        <p:spPr>
          <a:xfrm>
            <a:off x="6076950" y="2441601"/>
            <a:ext cx="5435600" cy="98739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 descr="30ecfc98-2258-43d3-8443-dd7f3d2bb5c9"/>
          <p:cNvSpPr>
            <a:spLocks noGrp="1"/>
          </p:cNvSpPr>
          <p:nvPr>
            <p:ph type="body" idx="1" hasCustomPrompt="1"/>
          </p:nvPr>
        </p:nvSpPr>
        <p:spPr>
          <a:xfrm>
            <a:off x="6083300" y="3429000"/>
            <a:ext cx="5435600" cy="270510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add text</a:t>
            </a:r>
            <a:endParaRPr lang="zh-CN" altLang="en-US"/>
          </a:p>
        </p:txBody>
      </p:sp>
      <p:sp>
        <p:nvSpPr>
          <p:cNvPr id="4" name="Date Placeholder 3" descr="ec289018-845f-4d8d-983b-18091481e0c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 descr="2fc7a269-b387-4a4e-8a1e-c060635a1d0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978d8ac1-a17f-4c4c-a869-c21211b116a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 descr="c23087fc-693f-4fcc-81ab-3318ee5cda4f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Date Placeholder 2" descr="517f85bd-7535-4e7b-9a8b-694665a7cfe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Footer Placeholder 3" descr="87437465-8cdb-4f93-9a8e-f9f6e58c618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descr="7c432cdf-bab3-448a-9316-c81da67370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descr="f3164b34-05bf-40d4-9d8f-66e197d52b5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3" name="Footer Placeholder 2" descr="ad1fec87-2137-4b31-91ac-4dfaa987368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descr="1bf0d88a-ab5e-4b5a-a731-70bed43d18e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Rectangle 2" descr="6e464858-5436-4ada-a4b8-886d874ff772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1">
              <a:extLst>
                <a:ext uri="{28A0092B-C50C-407E-A947-70E740481C1C}">
                  <a14:useLocalDpi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 descr="1a447582-b4b1-4001-86e7-b66e5bfbf4b7"/>
          <p:cNvSpPr>
            <a:spLocks noGrp="1"/>
          </p:cNvSpPr>
          <p:nvPr>
            <p:ph type="title" hasCustomPrompt="1"/>
          </p:nvPr>
        </p:nvSpPr>
        <p:spPr>
          <a:xfrm>
            <a:off x="866877" y="2134685"/>
            <a:ext cx="6711244" cy="2689548"/>
          </a:xfrm>
        </p:spPr>
        <p:txBody>
          <a:bodyPr anchor="ctr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4" name="Text Placeholder 3" descr="e29d0b23-4c46-4ae7-b754-0744fada7e91"/>
          <p:cNvSpPr>
            <a:spLocks noGrp="1"/>
          </p:cNvSpPr>
          <p:nvPr>
            <p:ph type="body" sz="quarter" idx="13" hasCustomPrompt="1"/>
          </p:nvPr>
        </p:nvSpPr>
        <p:spPr>
          <a:xfrm>
            <a:off x="7001013" y="5570220"/>
            <a:ext cx="4517887" cy="27432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0fbbe33e-ac5c-4422-ba89-34a2c555cf05"/>
          <p:cNvSpPr>
            <a:spLocks noGrp="1"/>
          </p:cNvSpPr>
          <p:nvPr>
            <p:ph type="body" sz="quarter" idx="14" hasCustomPrompt="1"/>
          </p:nvPr>
        </p:nvSpPr>
        <p:spPr>
          <a:xfrm>
            <a:off x="7001013" y="5844540"/>
            <a:ext cx="4517887" cy="27432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  <p:hf sldNum="0" hdr="0"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<Relationships xmlns="http://schemas.openxmlformats.org/package/2006/relationships"><Relationship Id="R434bc935efab4e4a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135538e70f6e4fff" Target="../slideLayouts/slideLayout5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2bb6690aace94803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c610465645a04833" Target="../slideLayouts/slideLayout5.xml" Type="http://schemas.openxmlformats.org/officeDocument/2006/relationships/slideLayout"/><Relationship Id="rId1" Target="../tags/tag3122.xml" Type="http://schemas.openxmlformats.org/officeDocument/2006/relationships/tags"/></Relationships>
</file>

<file path=ppt/slides/_rels/slide10.xml.rels><?xml version="1.0" encoding="UTF-8" standalone="yes"?><Relationships xmlns="http://schemas.openxmlformats.org/package/2006/relationships"><Relationship Id="R2ae935ef224a4156" Target="../slideLayouts/slideLayout5.xml" Type="http://schemas.openxmlformats.org/officeDocument/2006/relationships/slideLayout"/><Relationship Id="rId1" Target="../tags/tag2423.xml" Type="http://schemas.openxmlformats.org/officeDocument/2006/relationships/tags"/></Relationships>
</file>

<file path=ppt/slides/_rels/slide11.xml.rels><?xml version="1.0" encoding="UTF-8" standalone="yes"?><Relationships xmlns="http://schemas.openxmlformats.org/package/2006/relationships"><Relationship Id="Rf0da0bd5f6b64b01" Target="../slideLayouts/slideLayout5.xml" Type="http://schemas.openxmlformats.org/officeDocument/2006/relationships/slideLayout"/><Relationship Id="rId1" Target="../tags/tag2424.xml" Type="http://schemas.openxmlformats.org/officeDocument/2006/relationships/tags"/></Relationships>
</file>

<file path=ppt/slides/_rels/slide12.xml.rels><?xml version="1.0" encoding="UTF-8" standalone="yes"?><Relationships xmlns="http://schemas.openxmlformats.org/package/2006/relationships"><Relationship Id="R54f5cea7960f44af" Target="../slideLayouts/slideLayout4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51a419d0c9f24324" Target="../slideLayouts/slideLayout5.xml" Type="http://schemas.openxmlformats.org/officeDocument/2006/relationships/slideLayout"/><Relationship Id="rId1" Target="../tags/tag425.xml" Type="http://schemas.openxmlformats.org/officeDocument/2006/relationships/tags"/></Relationships>
</file>

<file path=ppt/slides/_rels/slide14.xml.rels><?xml version="1.0" encoding="UTF-8" standalone="yes"?><Relationships xmlns="http://schemas.openxmlformats.org/package/2006/relationships"><Relationship Id="R824eeb3cfcbd409e" Target="../slideLayouts/slideLayout5.xml" Type="http://schemas.openxmlformats.org/officeDocument/2006/relationships/slideLayout"/><Relationship Id="rId1" Target="../tags/tag5126.xml" Type="http://schemas.openxmlformats.org/officeDocument/2006/relationships/tags"/></Relationships>
</file>

<file path=ppt/slides/_rels/slide15.xml.rels><?xml version="1.0" encoding="UTF-8" standalone="yes"?><Relationships xmlns="http://schemas.openxmlformats.org/package/2006/relationships"><Relationship Id="Rf1cfce2d73c04ac8" Target="../slideLayouts/slideLayout5.xml" Type="http://schemas.openxmlformats.org/officeDocument/2006/relationships/slideLayout"/><Relationship Id="rId1" Target="../tags/tag3927.xml" Type="http://schemas.openxmlformats.org/officeDocument/2006/relationships/tags"/></Relationships>
</file>

<file path=ppt/slides/_rels/slide16.xml.rels><?xml version="1.0" encoding="UTF-8" standalone="yes"?><Relationships xmlns="http://schemas.openxmlformats.org/package/2006/relationships"><Relationship Id="R9db99064e9f24a23" Target="../slideLayouts/slideLayout4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9fcf3d8030364544" Target="../slideLayouts/slideLayout5.xml" Type="http://schemas.openxmlformats.org/officeDocument/2006/relationships/slideLayout"/><Relationship Id="rId1" Target="../tags/tag2428.xml" Type="http://schemas.openxmlformats.org/officeDocument/2006/relationships/tags"/></Relationships>
</file>

<file path=ppt/slides/_rels/slide18.xml.rels><?xml version="1.0" encoding="UTF-8" standalone="yes"?><Relationships xmlns="http://schemas.openxmlformats.org/package/2006/relationships"><Relationship Id="Re58823948b8d4d21" Target="../slideLayouts/slideLayout5.xml" Type="http://schemas.openxmlformats.org/officeDocument/2006/relationships/slideLayout"/><Relationship Id="rId1" Target="../tags/tag2429.xml" Type="http://schemas.openxmlformats.org/officeDocument/2006/relationships/tags"/></Relationships>
</file>

<file path=ppt/slides/_rels/slide19.xml.rels><?xml version="1.0" encoding="UTF-8" standalone="yes"?><Relationships xmlns="http://schemas.openxmlformats.org/package/2006/relationships"><Relationship Id="R656cb5f2fd1a400b" Target="../slideLayouts/slideLayout5.xml" Type="http://schemas.openxmlformats.org/officeDocument/2006/relationships/slideLayout"/><Relationship Id="rId1" Target="../tags/tag10210.xml" Type="http://schemas.openxmlformats.org/officeDocument/2006/relationships/tags"/></Relationships>
</file>

<file path=ppt/slides/_rels/slide20.xml.rels><?xml version="1.0" encoding="UTF-8" standalone="yes"?><Relationships xmlns="http://schemas.openxmlformats.org/package/2006/relationships"><Relationship Id="R0d4a169fbf5e445d" Target="../slideLayouts/slideLayout4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06a8bee7e4b04789" Target="../slideLayouts/slideLayout5.xml" Type="http://schemas.openxmlformats.org/officeDocument/2006/relationships/slideLayout"/><Relationship Id="rId1" Target="../tags/tag46211.xml" Type="http://schemas.openxmlformats.org/officeDocument/2006/relationships/tags"/></Relationships>
</file>

<file path=ppt/slides/_rels/slide22.xml.rels><?xml version="1.0" encoding="UTF-8" standalone="yes"?><Relationships xmlns="http://schemas.openxmlformats.org/package/2006/relationships"><Relationship Id="R04e45f9627dd425e" Target="../slideLayouts/slideLayout5.xml" Type="http://schemas.openxmlformats.org/officeDocument/2006/relationships/slideLayout"/><Relationship Id="rId1" Target="../tags/tag46212.xml" Type="http://schemas.openxmlformats.org/officeDocument/2006/relationships/tags"/></Relationships>
</file>

<file path=ppt/slides/_rels/slide23.xml.rels><?xml version="1.0" encoding="UTF-8" standalone="yes"?><Relationships xmlns="http://schemas.openxmlformats.org/package/2006/relationships"><Relationship Id="R9d5ed78a0c6243fe" Target="../slideLayouts/slideLayout5.xml" Type="http://schemas.openxmlformats.org/officeDocument/2006/relationships/slideLayout"/><Relationship Id="rId1" Target="../tags/tag15213.xml" Type="http://schemas.openxmlformats.org/officeDocument/2006/relationships/tags"/><Relationship Id="rId4" Target="../media/image323.jp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38aac9d8074b47d6" Target="../slideLayouts/slideLayout4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006e3861570040e9" Target="../slideLayouts/slideLayout5.xml" Type="http://schemas.openxmlformats.org/officeDocument/2006/relationships/slideLayout"/><Relationship Id="rId1" Target="../tags/tag26214.xml" Type="http://schemas.openxmlformats.org/officeDocument/2006/relationships/tags"/></Relationships>
</file>

<file path=ppt/slides/_rels/slide26.xml.rels><?xml version="1.0" encoding="UTF-8" standalone="yes"?><Relationships xmlns="http://schemas.openxmlformats.org/package/2006/relationships"><Relationship Id="R7df287019e2a4bb8" Target="../slideLayouts/slideLayout5.xml" Type="http://schemas.openxmlformats.org/officeDocument/2006/relationships/slideLayout"/><Relationship Id="rId1" Target="../tags/tag66215.xml" Type="http://schemas.openxmlformats.org/officeDocument/2006/relationships/tags"/></Relationships>
</file>

<file path=ppt/slides/_rels/slide27.xml.rels><?xml version="1.0" encoding="UTF-8" standalone="yes"?><Relationships xmlns="http://schemas.openxmlformats.org/package/2006/relationships"><Relationship Id="R802b72a9a0a04b0a" Target="../slideLayouts/slideLayout5.xml" Type="http://schemas.openxmlformats.org/officeDocument/2006/relationships/slideLayout"/><Relationship Id="rId1" Target="../tags/tag14216.xml" Type="http://schemas.openxmlformats.org/officeDocument/2006/relationships/tags"/><Relationship Id="rId4" Target="../media/image324.jp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522ccebd3f4d4f88" Target="../slideLayouts/slideLayout7.xml" Type="http://schemas.openxmlformats.org/officeDocument/2006/relationships/slideLayout"/></Relationships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2e399d6f-9af0-45ca-a7a6-cd19600ea906" id="2" name=""/>
          <p:cNvSpPr>
            <a:spLocks noGrp="1"/>
          </p:cNvSpPr>
          <p:nvPr>
            <p:ph hasCustomPrompt="1" type="ctrTitle"/>
          </p:nvPr>
        </p:nvSpPr>
        <p:spPr/>
        <p:txBody>
          <a:bodyPr/>
          <a:lstStyle/>
          <a:p>
            <a:pPr/>
            <a:r>
              <a:rPr altLang="en-US" dirty="0" lang="zh-CN"/>
              <a:t>避风港原则：网络版权责任的平衡机制与发展趋势</a:t>
            </a:r>
            <a:endParaRPr dirty="0" lang="en-US"/>
          </a:p>
        </p:txBody>
      </p:sp>
      <p:sp>
        <p:nvSpPr>
          <p:cNvPr descr="21ebea1f-c31e-4704-a7ff-06835433ce1b" id="3" name=""/>
          <p:cNvSpPr>
            <a:spLocks noGrp="1"/>
          </p:cNvSpPr>
          <p:nvPr>
            <p:ph hasCustomPrompt="1" idx="1" type="subTitle"/>
          </p:nvPr>
        </p:nvSpPr>
        <p:spPr/>
        <p:txBody>
          <a:bodyPr/>
          <a:lstStyle/>
          <a:p>
            <a:pPr/>
            <a:r>
              <a:rPr altLang="en-US" dirty="0" lang="zh-CN"/>
              <a:t>从法律框架、司法实践到国际比较与平台责任演进</a:t>
            </a:r>
            <a:endParaRPr dirty="0" lang="en-US"/>
          </a:p>
        </p:txBody>
      </p:sp>
      <p:sp>
        <p:nvSpPr>
          <p:cNvPr descr="7ecef049-d426-4651-901f-2f070ff85afc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/>
            <a:r>
              <a:rPr altLang="en-US" dirty="0" lang="zh-CN"/>
              <a:t>报告人名称</a:t>
            </a:r>
            <a:endParaRPr dirty="0" lang="en-US"/>
          </a:p>
        </p:txBody>
      </p:sp>
      <p:sp>
        <p:nvSpPr>
          <p:cNvPr descr="cbca7563-5974-42ca-8a3b-e3a7f0f00773" id="6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/>
          <a:lstStyle/>
          <a:p>
            <a:pPr/>
            <a:r>
              <a:rPr altLang="en-US" dirty="0" lang="zh-CN"/>
              <a:t>20xx.xx.xx</a:t>
            </a:r>
            <a:endParaRPr dirty="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目录</a:t>
            </a:r>
            <a:endParaRPr dirty="0" lang="en-US"/>
          </a:p>
        </p:txBody>
      </p:sp>
      <p:grpSp>
        <p:nvGrpSpPr>
          <p:cNvPr descr="c257e28b-b6c5-4cc6-a02f-3a16770daf03" id="8" name="4caed9d6-c0d5-402d-a13c-963d60d56e8c.source.5.zh-Hans.pptx">
            <a:extLst>
              <a:ext uri="{FF2B5EF4-FFF2-40B4-BE49-F238E27FC236}">
                <a16:creationId id="{DA2A91A6-7273-CDAC-5204-6E29C3C61B64}"/>
              </a:ext>
            </a:extLst>
          </p:cNvPr>
          <p:cNvGrpSpPr/>
          <p:nvPr/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descr="c2b2caf2-6115-479e-bd52-c09973e5bdce" id="2" name="矩形 1">
              <a:extLst>
                <a:ext uri="{FF2B5EF4-FFF2-40B4-BE49-F238E27FC236}">
                  <a16:creationId id="{C9714C48-ED47-D088-728E-5F67970449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endParaRPr altLang="en-US" lang="zh-CN"/>
            </a:p>
          </p:txBody>
        </p:sp>
        <p:cxnSp>
          <p:nvCxnSpPr>
            <p:cNvPr descr="7008927d-796d-4c8c-b7df-68eb4754b422" id="83" name="直接箭头连接符 82">
              <a:extLst>
                <a:ext uri="{FF2B5EF4-FFF2-40B4-BE49-F238E27FC236}">
                  <a16:creationId id="{10B93CA4-5F1C-D813-B0F4-51ED4A866243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3944816"/>
              <a:ext cx="1085850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d0f31139-c728-49dd-8e9a-bd743af4d5b7" id="3" name="组合 2">
              <a:extLst>
                <a:ext uri="{FF2B5EF4-FFF2-40B4-BE49-F238E27FC236}">
                  <a16:creationId id="{99746AE9-2055-3F32-E42F-67B9546548D3}"/>
                </a:ext>
              </a:extLst>
            </p:cNvPr>
            <p:cNvGrpSpPr/>
            <p:nvPr/>
          </p:nvGrpSpPr>
          <p:grpSpPr>
            <a:xfrm>
              <a:off x="660400" y="3650127"/>
              <a:ext cx="2568077" cy="1785484"/>
              <a:chOff x="430475" y="3650127"/>
              <a:chExt cx="2568077" cy="1785484"/>
            </a:xfrm>
          </p:grpSpPr>
          <p:sp>
            <p:nvSpPr>
              <p:cNvPr descr="a7b7e92f-0e61-4a7f-8db4-d9008ffa7162" id="50" name="Number1">
                <a:extLst>
                  <a:ext uri="{FF2B5EF4-FFF2-40B4-BE49-F238E27FC236}">
                    <a16:creationId id="{331940AB-E903-CBB5-42DB-196ECBE6E6DE}"/>
                  </a:ext>
                </a:extLst>
              </p:cNvPr>
              <p:cNvSpPr/>
              <p:nvPr/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b="1" dirty="0" lang="en-US">
                    <a:solidFill>
                      <a:srgbClr val="FFFFFF"/>
                    </a:solidFill>
                    <a:cs typeface="+mn-ea"/>
                  </a:rPr>
                  <a:t>01</a:t>
                </a:r>
                <a:endParaRPr altLang="en-US" b="1" dirty="0" lang="zh-CN">
                  <a:solidFill>
                    <a:srgbClr val="FFFFFF"/>
                  </a:solidFill>
                  <a:cs typeface="+mn-ea"/>
                </a:endParaRPr>
              </a:p>
            </p:txBody>
          </p:sp>
          <p:grpSp>
            <p:nvGrpSpPr>
              <p:cNvPr descr="fb1773e2-c9ef-44eb-8798-b4df0b47f5fd" id="56" name="组合 55">
                <a:extLst>
                  <a:ext uri="{FF2B5EF4-FFF2-40B4-BE49-F238E27FC236}">
                    <a16:creationId id="{248E5141-C510-C3C9-542B-9551CACCE0A7}"/>
                  </a:ext>
                </a:extLst>
              </p:cNvPr>
              <p:cNvGrpSpPr/>
              <p:nvPr/>
            </p:nvGrpSpPr>
            <p:grpSpPr>
              <a:xfrm>
                <a:off x="430475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descr="99ddfd84-073e-402a-bbdc-0a3023bda18a" id="79" name="Bullet1">
                  <a:extLst>
                    <a:ext uri="{FF2B5EF4-FFF2-40B4-BE49-F238E27FC236}">
                      <a16:creationId id="{26485645-A9B5-716A-E9FE-CAA8A411F20C}"/>
                    </a:ext>
                  </a:extLst>
                </p:cNvPr>
                <p:cNvSpPr txBox="1"/>
                <p:nvPr/>
              </p:nvSpPr>
              <p:spPr>
                <a:xfrm>
                  <a:off x="1670227" y="5090848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0" bIns="45720" lIns="91440" rIns="91440" tIns="45720" wrap="square">
                  <a:normAutofit/>
                </a:bodyPr>
                <a:lstStyle/>
                <a:p>
                  <a:pPr defTabSz="913765" eaLnBrk="1" fontAlgn="auto" hangingPunct="1" indent="0" latinLnBrk="0" lvl="0" marL="0" marR="0" rtl="0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altLang="en-US" b="1" baseline="0" cap="none" dirty="0" i="0" kern="1200" kumimoji="0" lang="zh-CN" noProof="0" normalizeH="0" spc="0" strike="noStrike" sz="2000" u="none">
                      <a:ln>
                        <a:noFill/>
                      </a:ln>
                      <a:effectLst/>
                      <a:uLnTx/>
                      <a:uFillTx/>
                      <a:latin charset="0" panose="020B0604020202020204" pitchFamily="34" typeface="Arial"/>
                      <a:cs charset="0" panose="020B0604020202020204" pitchFamily="34" typeface="Arial"/>
                    </a:rPr>
                    <a:t>原则概述</a:t>
                  </a:r>
                  <a:endParaRPr dirty="0" lang="en-US"/>
                </a:p>
              </p:txBody>
            </p:sp>
            <p:cxnSp>
              <p:nvCxnSpPr>
                <p:cNvPr descr="9c3edcd5-07b9-47a7-8bf6-892394b79f27" id="81" name="直接连接符 80">
                  <a:extLst>
                    <a:ext uri="{FF2B5EF4-FFF2-40B4-BE49-F238E27FC236}">
                      <a16:creationId id="{4EBBE39F-F648-A8B5-ADB3-84E87CA146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f553d364-eed2-463f-98b2-8bee65d993a4" id="4" name="组合 3">
              <a:extLst>
                <a:ext uri="{FF2B5EF4-FFF2-40B4-BE49-F238E27FC236}">
                  <a16:creationId id="{58E56BC4-115B-73AE-8DF1-459608F0D06D}"/>
                </a:ext>
              </a:extLst>
            </p:cNvPr>
            <p:cNvGrpSpPr/>
            <p:nvPr/>
          </p:nvGrpSpPr>
          <p:grpSpPr>
            <a:xfrm>
              <a:off x="2694819" y="2441361"/>
              <a:ext cx="2568077" cy="1795270"/>
              <a:chOff x="2091348" y="2441361"/>
              <a:chExt cx="2568077" cy="1795270"/>
            </a:xfrm>
          </p:grpSpPr>
          <p:sp>
            <p:nvSpPr>
              <p:cNvPr descr="4016da6a-a1dd-4ff1-b82f-fa1afe4130b2" id="51" name="Number2">
                <a:extLst>
                  <a:ext uri="{FF2B5EF4-FFF2-40B4-BE49-F238E27FC236}">
                    <a16:creationId id="{C3B94DC8-A13E-BFF7-BAA3-4BB64FAA315D}"/>
                  </a:ext>
                </a:extLst>
              </p:cNvPr>
              <p:cNvSpPr/>
              <p:nvPr/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/>
              <a:lstStyle/>
              <a:p>
                <a:pPr algn="ctr"/>
                <a:r>
                  <a:rPr altLang="zh-CN" b="1" dirty="0" lang="en-US" sz="2000">
                    <a:solidFill>
                      <a:srgbClr val="FFFFFF"/>
                    </a:solidFill>
                    <a:cs typeface="+mn-ea"/>
                  </a:rPr>
                  <a:t>02</a:t>
                </a:r>
                <a:endParaRPr altLang="en-US" b="1" dirty="0" lang="zh-CN" sz="2000">
                  <a:solidFill>
                    <a:srgbClr val="FFFFFF"/>
                  </a:solidFill>
                  <a:cs typeface="+mn-ea"/>
                </a:endParaRPr>
              </a:p>
            </p:txBody>
          </p:sp>
          <p:grpSp>
            <p:nvGrpSpPr>
              <p:cNvPr descr="f32b3a36-a0ce-4332-b9c2-aec999841ff6" id="65" name="组合 64">
                <a:extLst>
                  <a:ext uri="{FF2B5EF4-FFF2-40B4-BE49-F238E27FC236}">
                    <a16:creationId id="{BEBE0FB9-8842-ACAA-C81F-9B0BA655DE58}"/>
                  </a:ext>
                </a:extLst>
              </p:cNvPr>
              <p:cNvGrpSpPr/>
              <p:nvPr/>
            </p:nvGrpSpPr>
            <p:grpSpPr>
              <a:xfrm>
                <a:off x="2091348" y="2441361"/>
                <a:ext cx="2568077" cy="1205891"/>
                <a:chOff x="1663877" y="5316110"/>
                <a:chExt cx="2568077" cy="1205891"/>
              </a:xfrm>
            </p:grpSpPr>
            <p:sp>
              <p:nvSpPr>
                <p:cNvPr descr="c86ab6d4-c431-4f72-adc9-7fff1ffe03b1" id="70" name="Bullet2">
                  <a:extLst>
                    <a:ext uri="{FF2B5EF4-FFF2-40B4-BE49-F238E27FC236}">
                      <a16:creationId id="{EDCE61C6-6656-1E2B-5064-54B9A2807089}"/>
                    </a:ext>
                  </a:extLst>
                </p:cNvPr>
                <p:cNvSpPr txBox="1"/>
                <p:nvPr/>
              </p:nvSpPr>
              <p:spPr>
                <a:xfrm>
                  <a:off x="1663877" y="5316110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0" bIns="45720" lIns="91440" rIns="91440" tIns="45720" wrap="square">
                  <a:normAutofit/>
                </a:bodyPr>
                <a:lstStyle/>
                <a:p>
                  <a:pPr defTabSz="913765" eaLnBrk="1" fontAlgn="auto" hangingPunct="1" indent="0" latinLnBrk="0" lvl="0" marL="0" marR="0" rtl="0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altLang="en-US" b="1" baseline="0" cap="none" dirty="0" i="0" kern="1200" kumimoji="0" lang="zh-CN" noProof="0" normalizeH="0" spc="0" strike="noStrike" sz="2000" u="none">
                      <a:ln>
                        <a:noFill/>
                      </a:ln>
                      <a:effectLst/>
                      <a:uLnTx/>
                      <a:uFillTx/>
                      <a:latin charset="0" panose="020B0604020202020204" pitchFamily="34" typeface="Arial"/>
                      <a:cs charset="0" panose="020B0604020202020204" pitchFamily="34" typeface="Arial"/>
                    </a:rPr>
                    <a:t>法律体系</a:t>
                  </a:r>
                  <a:endParaRPr dirty="0" lang="en-US"/>
                </a:p>
              </p:txBody>
            </p:sp>
            <p:cxnSp>
              <p:nvCxnSpPr>
                <p:cNvPr descr="c40f2fbe-0d53-4ea9-8eb8-9adbc1aebf23" id="72" name="直接连接符 71">
                  <a:extLst>
                    <a:ext uri="{FF2B5EF4-FFF2-40B4-BE49-F238E27FC236}">
                      <a16:creationId id="{99BF09C9-45C6-C4F6-5BA4-D5A239A8C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descr="a671ae54-0c73-4b8f-9899-100ab459da9c" id="84" name="Title">
              <a:extLst>
                <a:ext uri="{FF2B5EF4-FFF2-40B4-BE49-F238E27FC236}">
                  <a16:creationId id="{39FC13C3-340B-FC8F-289C-1AC8FECAA9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lIns="91440" rIns="91440" rtlCol="0" tIns="45720" wrap="square">
              <a:normAutofit/>
            </a:bodyPr>
            <a:lstStyle/>
            <a:p>
              <a:pPr algn="ctr">
                <a:buSzPct val="25000"/>
              </a:pPr>
              <a:r>
                <a:rPr altLang="en-US" b="1" dirty="0" lang="zh-CN" sz="4800">
                  <a:solidFill>
                    <a:schemeClr val="tx1"/>
                  </a:solidFill>
                </a:rPr>
                <a:t/>
              </a:r>
              <a:endParaRPr dirty="0" lang="en-US"/>
            </a:p>
          </p:txBody>
        </p:sp>
        <p:grpSp>
          <p:nvGrpSpPr>
            <p:cNvPr descr="4e559889-97ee-4bd1-9a3e-f0de477ffeb4" id="5" name="组合 4">
              <a:extLst>
                <a:ext uri="{FF2B5EF4-FFF2-40B4-BE49-F238E27FC236}">
                  <a16:creationId id="{90B8F8B4-79BF-2F56-2F3A-B2F5474F568F}"/>
                </a:ext>
              </a:extLst>
            </p:cNvPr>
            <p:cNvGrpSpPr/>
            <p:nvPr/>
          </p:nvGrpSpPr>
          <p:grpSpPr>
            <a:xfrm>
              <a:off x="4729238" y="3650127"/>
              <a:ext cx="2568077" cy="1785484"/>
              <a:chOff x="3751497" y="3650127"/>
              <a:chExt cx="2568077" cy="1785484"/>
            </a:xfrm>
          </p:grpSpPr>
          <p:sp>
            <p:nvSpPr>
              <p:cNvPr descr="0f6b0a2f-08ab-4ca8-95a0-0e8591ec7d60" id="52" name="Number3">
                <a:extLst>
                  <a:ext uri="{FF2B5EF4-FFF2-40B4-BE49-F238E27FC236}">
                    <a16:creationId id="{9C5F2C3D-B1AB-40CC-E21D-781CA62B9623}"/>
                  </a:ext>
                </a:extLst>
              </p:cNvPr>
              <p:cNvSpPr/>
              <p:nvPr/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b="1" dirty="0" lang="en-US">
                    <a:solidFill>
                      <a:srgbClr val="FFFFFF"/>
                    </a:solidFill>
                    <a:cs typeface="+mn-ea"/>
                  </a:rPr>
                  <a:t>03</a:t>
                </a:r>
                <a:endParaRPr altLang="en-US" b="1" dirty="0" lang="zh-CN">
                  <a:solidFill>
                    <a:srgbClr val="FFFFFF"/>
                  </a:solidFill>
                  <a:cs typeface="+mn-ea"/>
                </a:endParaRPr>
              </a:p>
            </p:txBody>
          </p:sp>
          <p:grpSp>
            <p:nvGrpSpPr>
              <p:cNvPr descr="28b42b8a-bb48-4f31-b5d4-b5ad576270c2" id="91" name="组合 90">
                <a:extLst>
                  <a:ext uri="{FF2B5EF4-FFF2-40B4-BE49-F238E27FC236}">
                    <a16:creationId id="{875B6E1A-C5F4-24A4-EC25-0D55B388F0AF}"/>
                  </a:ext>
                </a:extLst>
              </p:cNvPr>
              <p:cNvGrpSpPr/>
              <p:nvPr/>
            </p:nvGrpSpPr>
            <p:grpSpPr>
              <a:xfrm>
                <a:off x="3751497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descr="9e9e9c2e-a33f-41e6-a354-643be44993b6" id="92" name="Bullet3">
                  <a:extLst>
                    <a:ext uri="{FF2B5EF4-FFF2-40B4-BE49-F238E27FC236}">
                      <a16:creationId id="{4463FF7D-ECE0-AC16-BA46-E4098DF95B34}"/>
                    </a:ext>
                  </a:extLst>
                </p:cNvPr>
                <p:cNvSpPr txBox="1"/>
                <p:nvPr/>
              </p:nvSpPr>
              <p:spPr>
                <a:xfrm>
                  <a:off x="1670227" y="5090848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0" bIns="45720" lIns="91440" rIns="91440" tIns="45720" wrap="square">
                  <a:normAutofit/>
                </a:bodyPr>
                <a:lstStyle/>
                <a:p>
                  <a:pPr defTabSz="913765" eaLnBrk="1" fontAlgn="auto" hangingPunct="1" indent="0" latinLnBrk="0" lvl="0" marL="0" marR="0" rtl="0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altLang="en-US" b="1" baseline="0" cap="none" dirty="0" i="0" kern="1200" kumimoji="0" lang="zh-CN" noProof="0" normalizeH="0" spc="0" strike="noStrike" sz="2000" u="none">
                      <a:ln>
                        <a:noFill/>
                      </a:ln>
                      <a:effectLst/>
                      <a:uLnTx/>
                      <a:uFillTx/>
                      <a:latin charset="0" panose="020B0604020202020204" pitchFamily="34" typeface="Arial"/>
                      <a:cs charset="0" panose="020B0604020202020204" pitchFamily="34" typeface="Arial"/>
                    </a:rPr>
                    <a:t>司法实践</a:t>
                  </a:r>
                  <a:endParaRPr dirty="0" lang="en-US"/>
                </a:p>
              </p:txBody>
            </p:sp>
            <p:cxnSp>
              <p:nvCxnSpPr>
                <p:cNvPr descr="94b6dcf3-9efd-40d2-8614-95bf3ce4f7f9" id="94" name="直接连接符 93">
                  <a:extLst>
                    <a:ext uri="{FF2B5EF4-FFF2-40B4-BE49-F238E27FC236}">
                      <a16:creationId id="{0B6890B8-DFDC-C387-6CE8-27FE69F534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c293a439-d25b-4670-be96-3b21a34be29a" id="6" name="组合 5">
              <a:extLst>
                <a:ext uri="{FF2B5EF4-FFF2-40B4-BE49-F238E27FC236}">
                  <a16:creationId id="{BCF5D0BA-3B6C-2B7D-8ECB-26DB449B0357}"/>
                </a:ext>
              </a:extLst>
            </p:cNvPr>
            <p:cNvGrpSpPr/>
            <p:nvPr/>
          </p:nvGrpSpPr>
          <p:grpSpPr>
            <a:xfrm>
              <a:off x="6763657" y="2441361"/>
              <a:ext cx="2568077" cy="1795270"/>
              <a:chOff x="5444712" y="2441361"/>
              <a:chExt cx="2568077" cy="1795270"/>
            </a:xfrm>
          </p:grpSpPr>
          <p:sp>
            <p:nvSpPr>
              <p:cNvPr descr="4b5541bd-a35d-4021-bd24-1f66fad14e32" id="53" name="Number4">
                <a:extLst>
                  <a:ext uri="{FF2B5EF4-FFF2-40B4-BE49-F238E27FC236}">
                    <a16:creationId id="{771B8C0A-613C-A6ED-F850-B7B2EA155BF4}"/>
                  </a:ext>
                </a:extLst>
              </p:cNvPr>
              <p:cNvSpPr/>
              <p:nvPr/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/>
              <a:lstStyle/>
              <a:p>
                <a:pPr algn="ctr"/>
                <a:r>
                  <a:rPr altLang="zh-CN" b="1" dirty="0" lang="en-US" sz="2000">
                    <a:solidFill>
                      <a:srgbClr val="FFFFFF"/>
                    </a:solidFill>
                    <a:cs typeface="+mn-ea"/>
                  </a:rPr>
                  <a:t>04</a:t>
                </a:r>
                <a:endParaRPr altLang="en-US" b="1" dirty="0" lang="zh-CN" sz="2000">
                  <a:solidFill>
                    <a:srgbClr val="FFFFFF"/>
                  </a:solidFill>
                  <a:cs typeface="+mn-ea"/>
                </a:endParaRPr>
              </a:p>
            </p:txBody>
          </p:sp>
          <p:grpSp>
            <p:nvGrpSpPr>
              <p:cNvPr descr="f5df4cac-f9bf-4521-8f2f-c80c6e9028f3" id="95" name="组合 94">
                <a:extLst>
                  <a:ext uri="{FF2B5EF4-FFF2-40B4-BE49-F238E27FC236}">
                    <a16:creationId id="{06C30757-2C2F-8677-8A77-750800896B96}"/>
                  </a:ext>
                </a:extLst>
              </p:cNvPr>
              <p:cNvGrpSpPr/>
              <p:nvPr/>
            </p:nvGrpSpPr>
            <p:grpSpPr>
              <a:xfrm>
                <a:off x="5444712" y="2441361"/>
                <a:ext cx="2568077" cy="1205891"/>
                <a:chOff x="1663877" y="5316110"/>
                <a:chExt cx="2568077" cy="1205891"/>
              </a:xfrm>
            </p:grpSpPr>
            <p:sp>
              <p:nvSpPr>
                <p:cNvPr descr="a3d646a7-f9c9-4ab9-babd-cbf23a9d6af1" id="96" name="Bullet4">
                  <a:extLst>
                    <a:ext uri="{FF2B5EF4-FFF2-40B4-BE49-F238E27FC236}">
                      <a16:creationId id="{2697C799-E926-4D22-DDAF-513E0A5DD13E}"/>
                    </a:ext>
                  </a:extLst>
                </p:cNvPr>
                <p:cNvSpPr txBox="1"/>
                <p:nvPr/>
              </p:nvSpPr>
              <p:spPr>
                <a:xfrm>
                  <a:off x="1663877" y="5316110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0" bIns="45720" lIns="91440" rIns="91440" tIns="45720" wrap="square">
                  <a:normAutofit/>
                </a:bodyPr>
                <a:lstStyle/>
                <a:p>
                  <a:pPr defTabSz="913765" eaLnBrk="1" fontAlgn="auto" hangingPunct="1" indent="0" latinLnBrk="0" lvl="0" marL="0" marR="0" rtl="0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altLang="en-US" b="1" baseline="0" cap="none" dirty="0" i="0" kern="1200" kumimoji="0" lang="zh-CN" noProof="0" normalizeH="0" spc="0" strike="noStrike" sz="2000" u="none">
                      <a:ln>
                        <a:noFill/>
                      </a:ln>
                      <a:effectLst/>
                      <a:uLnTx/>
                      <a:uFillTx/>
                      <a:latin charset="0" panose="020B0604020202020204" pitchFamily="34" typeface="Arial"/>
                      <a:cs charset="0" panose="020B0604020202020204" pitchFamily="34" typeface="Arial"/>
                    </a:rPr>
                    <a:t>适用限制</a:t>
                  </a:r>
                  <a:endParaRPr dirty="0" lang="en-US"/>
                </a:p>
              </p:txBody>
            </p:sp>
            <p:cxnSp>
              <p:nvCxnSpPr>
                <p:cNvPr descr="fa05f00b-9d85-403a-9a0b-5bc5a62ccd33" id="98" name="直接连接符 97">
                  <a:extLst>
                    <a:ext uri="{FF2B5EF4-FFF2-40B4-BE49-F238E27FC236}">
                      <a16:creationId id="{4932436E-120D-78F4-40BA-1574046CB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e08dddc6-e66a-4028-8b42-21d9da4ee36e" id="7" name="组合 6">
              <a:extLst>
                <a:ext uri="{FF2B5EF4-FFF2-40B4-BE49-F238E27FC236}">
                  <a16:creationId id="{E993C282-FF37-015D-9A64-2D15A8265A41}"/>
                </a:ext>
              </a:extLst>
            </p:cNvPr>
            <p:cNvGrpSpPr/>
            <p:nvPr/>
          </p:nvGrpSpPr>
          <p:grpSpPr>
            <a:xfrm>
              <a:off x="8798076" y="3650127"/>
              <a:ext cx="2568077" cy="1785484"/>
              <a:chOff x="7127744" y="3650127"/>
              <a:chExt cx="2568077" cy="1785484"/>
            </a:xfrm>
          </p:grpSpPr>
          <p:sp>
            <p:nvSpPr>
              <p:cNvPr descr="78ab88be-b45d-4a0d-8a5a-773d6fc98561" id="54" name="Number5">
                <a:extLst>
                  <a:ext uri="{FF2B5EF4-FFF2-40B4-BE49-F238E27FC236}">
                    <a16:creationId id="{4ED75C88-A748-CC22-D114-8CDDFB694522}"/>
                  </a:ext>
                </a:extLst>
              </p:cNvPr>
              <p:cNvSpPr/>
              <p:nvPr/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b="1" dirty="0" lang="en-US">
                    <a:solidFill>
                      <a:srgbClr val="FFFFFF"/>
                    </a:solidFill>
                    <a:cs typeface="+mn-ea"/>
                  </a:rPr>
                  <a:t>05</a:t>
                </a:r>
                <a:endParaRPr altLang="en-US" b="1" dirty="0" lang="zh-CN">
                  <a:solidFill>
                    <a:srgbClr val="FFFFFF"/>
                  </a:solidFill>
                  <a:cs typeface="+mn-ea"/>
                </a:endParaRPr>
              </a:p>
            </p:txBody>
          </p:sp>
          <p:grpSp>
            <p:nvGrpSpPr>
              <p:cNvPr descr="759f1b15-00e5-4455-87fe-426a104c3a87" id="99" name="组合 98">
                <a:extLst>
                  <a:ext uri="{FF2B5EF4-FFF2-40B4-BE49-F238E27FC236}">
                    <a16:creationId id="{103E8423-CBEA-48A7-70D0-2E46B29E74C9}"/>
                  </a:ext>
                </a:extLst>
              </p:cNvPr>
              <p:cNvGrpSpPr/>
              <p:nvPr/>
            </p:nvGrpSpPr>
            <p:grpSpPr>
              <a:xfrm>
                <a:off x="7127744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descr="430e05e3-4ecc-43d3-a1f6-dcf2b2f9f042" id="100" name="Bullet5">
                  <a:extLst>
                    <a:ext uri="{FF2B5EF4-FFF2-40B4-BE49-F238E27FC236}">
                      <a16:creationId id="{0D088875-EE1D-A8FD-909E-F0B685213418}"/>
                    </a:ext>
                  </a:extLst>
                </p:cNvPr>
                <p:cNvSpPr txBox="1"/>
                <p:nvPr/>
              </p:nvSpPr>
              <p:spPr>
                <a:xfrm>
                  <a:off x="1670227" y="5090848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0" bIns="45720" lIns="91440" rIns="91440" tIns="45720" wrap="square">
                  <a:normAutofit/>
                </a:bodyPr>
                <a:lstStyle/>
                <a:p>
                  <a:pPr defTabSz="913765" eaLnBrk="1" fontAlgn="auto" hangingPunct="1" indent="0" latinLnBrk="0" lvl="0" marL="0" marR="0" rtl="0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altLang="en-US" b="1" baseline="0" cap="none" dirty="0" i="0" kern="1200" kumimoji="0" lang="zh-CN" noProof="0" normalizeH="0" spc="0" strike="noStrike" sz="2000" u="none">
                      <a:ln>
                        <a:noFill/>
                      </a:ln>
                      <a:effectLst/>
                      <a:uLnTx/>
                      <a:uFillTx/>
                      <a:latin charset="0" panose="020B0604020202020204" pitchFamily="34" typeface="Arial"/>
                      <a:cs charset="0" panose="020B0604020202020204" pitchFamily="34" typeface="Arial"/>
                    </a:rPr>
                    <a:t>国际趋势</a:t>
                  </a:r>
                  <a:endParaRPr dirty="0" lang="en-US"/>
                </a:p>
              </p:txBody>
            </p:sp>
            <p:cxnSp>
              <p:nvCxnSpPr>
                <p:cNvPr descr="a0f15895-3f38-4e3a-ad4b-4e4c84d3578a" id="102" name="直接连接符 101">
                  <a:extLst>
                    <a:ext uri="{FF2B5EF4-FFF2-40B4-BE49-F238E27FC236}">
                      <a16:creationId id="{3F36DC1A-CE3C-ABAF-4586-0C91B81D80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e432bed3-95bb-4ff9-a468-9817f6fd6cdb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原则概述</a:t>
            </a:r>
            <a:endParaRPr dirty="0" lang="en-US"/>
          </a:p>
        </p:txBody>
      </p:sp>
      <p:sp>
        <p:nvSpPr>
          <p:cNvPr descr="30ecfc98-2258-43d3-8443-dd7f3d2bb5c9" id="3" name=""/>
          <p:cNvSpPr>
            <a:spLocks noGrp="1"/>
          </p:cNvSpPr>
          <p:nvPr>
            <p:ph hasCustomPrompt="1" idx="1" type="body"/>
          </p:nvPr>
        </p:nvSpPr>
        <p:spPr/>
        <p:txBody>
          <a:bodyPr/>
          <a:lstStyle/>
          <a:p>
            <a:pPr/>
            <a:r>
              <a:rPr altLang="en-US" dirty="0" lang="zh-CN"/>
              <a:t>避风港原则的核心定义、发展脉络与运行机制</a:t>
            </a:r>
            <a:endParaRPr dirty="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定义与核心机制</a:t>
            </a:r>
            <a:endParaRPr dirty="0" lang="en-US"/>
          </a:p>
        </p:txBody>
      </p:sp>
      <p:grpSp>
        <p:nvGrpSpPr>
          <p:cNvPr descr="ca582bea-dc18-4fcb-912e-9184d47b6e66" id="4" name="300e0c0b-0462-4a6b-95cd-3a67c6baf2bd.source.3.zh-Hans.pptx">
            <a:extLst>
              <a:ext uri="{FF2B5EF4-FFF2-40B4-BE49-F238E27FC236}">
                <a16:creationId id="{5C6A90BD-227E-4782-D6D7-14E134CC07EC}"/>
              </a:ext>
            </a:extLst>
          </p:cNvPr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descr="d2bbc6b4-0bb3-4cfc-814d-9ec83df43ee2" id="2" name="Title">
              <a:extLst>
                <a:ext uri="{FF2B5EF4-FFF2-40B4-BE49-F238E27FC236}">
                  <a16:creationId id="{FB6A1455-81AA-2669-4B31-65524FA20933}"/>
                </a:ext>
              </a:extLst>
            </p:cNvPr>
            <p:cNvSpPr txBox="1"/>
            <p:nvPr/>
          </p:nvSpPr>
          <p:spPr>
            <a:xfrm>
              <a:off x="660400" y="1130301"/>
              <a:ext cx="2573454" cy="2181612"/>
            </a:xfrm>
            <a:prstGeom prst="roundRect">
              <a:avLst>
                <a:gd fmla="val 6882" name="adj"/>
              </a:avLst>
            </a:prstGeom>
            <a:solidFill>
              <a:schemeClr val="tx1">
                <a:alpha val="5000"/>
              </a:schemeClr>
            </a:solidFill>
          </p:spPr>
          <p:txBody>
            <a:bodyPr anchor="ctr" anchorCtr="0" bIns="46800" lIns="90000" rIns="90000" rtlCol="0" tIns="46800" wrap="square">
              <a:normAutofit/>
            </a:bodyPr>
            <a:lstStyle>
              <a:defPPr>
                <a:defRPr lang="zh-CN"/>
              </a:defPPr>
              <a:lvl1pPr>
                <a:defRPr b="1" sz="2400">
                  <a:cs typeface="+mn-ea"/>
                </a:defRPr>
              </a:lvl1pPr>
            </a:lstStyle>
            <a:p>
              <a:pPr/>
              <a:r>
                <a:rPr altLang="en-US" dirty="0" lang="zh-CN">
                  <a:sym typeface="+mn-lt"/>
                </a:rPr>
                <a:t>著作权领域关键责任豁免规则</a:t>
              </a:r>
              <a:endParaRPr dirty="0" lang="en-US"/>
            </a:p>
          </p:txBody>
        </p:sp>
        <p:cxnSp>
          <p:nvCxnSpPr>
            <p:cNvPr descr="14887e58-bac8-4750-b87d-eab90be5cd62" id="7" name="直接连接符 6">
              <a:extLst>
                <a:ext uri="{FF2B5EF4-FFF2-40B4-BE49-F238E27FC236}">
                  <a16:creationId id="{6D016FBC-F3DE-998F-8037-2196814BE19A}"/>
                </a:ext>
              </a:extLst>
            </p:cNvPr>
            <p:cNvCxnSpPr>
              <a:cxnSpLocks/>
              <a:stCxn id="40" idx="4"/>
              <a:endCxn id="22" idx="0"/>
            </p:cNvCxnSpPr>
            <p:nvPr/>
          </p:nvCxnSpPr>
          <p:spPr>
            <a:xfrm>
              <a:off x="3625852" y="1628097"/>
              <a:ext cx="0" cy="2923707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56d1dfe6-2d4a-4a91-b4bc-fb3166f16c6d" id="3" name="组合 2">
              <a:extLst>
                <a:ext uri="{FF2B5EF4-FFF2-40B4-BE49-F238E27FC236}">
                  <a16:creationId id="{2BB20AA2-7B8A-45C6-5757-CF6ED73DE00F}"/>
                </a:ext>
              </a:extLst>
            </p:cNvPr>
            <p:cNvGrpSpPr/>
            <p:nvPr/>
          </p:nvGrpSpPr>
          <p:grpSpPr>
            <a:xfrm>
              <a:off x="3403298" y="1183481"/>
              <a:ext cx="8115602" cy="1582296"/>
              <a:chOff x="3403298" y="1183481"/>
              <a:chExt cx="8115602" cy="1582296"/>
            </a:xfrm>
          </p:grpSpPr>
          <p:sp>
            <p:nvSpPr>
              <p:cNvPr descr="b1239af4-a13f-44c3-98b5-e50e16eca86c" id="42" name="Text1">
                <a:extLst>
                  <a:ext uri="{FF2B5EF4-FFF2-40B4-BE49-F238E27FC236}">
                    <a16:creationId id="{07D60B01-C177-C522-B4A6-0F712FC180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8" y="1628096"/>
                <a:ext cx="7628401" cy="1137681"/>
              </a:xfrm>
              <a:prstGeom prst="rect">
                <a:avLst/>
              </a:prstGeom>
              <a:noFill/>
            </p:spPr>
            <p:txBody>
              <a:bodyPr anchor="t" anchorCtr="0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lnSpc>
                    <a:spcPct val="150000"/>
                  </a:lnSpc>
                  <a:defRPr baseline="0" cap="none" i="0" kern="1200" kumimoji="0" normalizeH="0" spc="0" strike="noStrike" sz="1050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200">
                    <a:cs typeface="+mn-ea"/>
                    <a:sym typeface="+mn-lt"/>
                  </a:rPr>
                  <a:t>该原则旨在平衡版权保护与互联网产业发展，为平台提供法律“安全区”</a:t>
                </a:r>
                <a:endParaRPr dirty="0" lang="en-US"/>
              </a:p>
            </p:txBody>
          </p:sp>
          <p:sp>
            <p:nvSpPr>
              <p:cNvPr descr="e7ebf6f2-37b6-4a8b-bebb-46a2a6c9305e" id="43" name="Bullet1">
                <a:extLst>
                  <a:ext uri="{FF2B5EF4-FFF2-40B4-BE49-F238E27FC236}">
                    <a16:creationId id="{B61A51BB-B63C-EDF9-1694-EB5C36B81F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9" y="1183481"/>
                <a:ext cx="7628401" cy="444616"/>
              </a:xfrm>
              <a:prstGeom prst="rect">
                <a:avLst/>
              </a:prstGeom>
              <a:noFill/>
            </p:spPr>
            <p:txBody>
              <a:bodyPr anchor="ctr" anchorCtr="0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b="1" baseline="0" cap="none" i="0" kern="1200" kumimoji="0" normalizeH="0" spc="0" strike="noStrike" sz="1400" u="none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800">
                    <a:solidFill>
                      <a:schemeClr val="tx1"/>
                    </a:solidFill>
                    <a:cs typeface="+mn-ea"/>
                    <a:sym typeface="+mn-lt"/>
                  </a:rPr>
                  <a:t>避风港原则指网络服务提供者（ISP）在仅提供技术性服务、未直接制作内容的前提下，若接到权利人有效通知后及时删除或断开侵权链接，可免除赔偿责任</a:t>
                </a:r>
                <a:endParaRPr dirty="0" lang="en-US"/>
              </a:p>
            </p:txBody>
          </p:sp>
          <p:sp>
            <p:nvSpPr>
              <p:cNvPr descr="1fdd1c7c-3a56-4131-b9cd-f3378ac76a42" id="40" name="Number1">
                <a:extLst>
                  <a:ext uri="{FF2B5EF4-FFF2-40B4-BE49-F238E27FC236}">
                    <a16:creationId id="{C6383B5A-6773-94AB-2EDC-5BEF889B07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03298" y="1183481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 bIns="45720" compatLnSpc="1" forceAA="0" fromWordArt="0" lIns="91440" numCol="1" rIns="91440" rot="0" rtlCol="0" spcCol="0" spcFirstLastPara="0" tIns="45720" vert="horz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altLang="zh-CN" b="1" dirty="0" lang="en-US" sz="1400">
                    <a:solidFill>
                      <a:srgbClr val="FFFFFF"/>
                    </a:solidFill>
                    <a:cs typeface="+mn-ea"/>
                    <a:sym typeface="+mn-lt"/>
                  </a:rPr>
                  <a:t>1</a:t>
                </a:r>
                <a:endParaRPr altLang="en-US" b="1" dirty="0" lang="zh-CN" sz="140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descr="d0851b89-f6f3-416a-9069-9ef4555c6757" id="11" name="组合 10">
              <a:extLst>
                <a:ext uri="{FF2B5EF4-FFF2-40B4-BE49-F238E27FC236}">
                  <a16:creationId id="{9DEEEA2E-0FE7-7E78-B350-01776B19F18D}"/>
                </a:ext>
              </a:extLst>
            </p:cNvPr>
            <p:cNvGrpSpPr/>
            <p:nvPr/>
          </p:nvGrpSpPr>
          <p:grpSpPr>
            <a:xfrm>
              <a:off x="3403298" y="2867642"/>
              <a:ext cx="8115602" cy="1582296"/>
              <a:chOff x="3403298" y="2454892"/>
              <a:chExt cx="8115602" cy="1582296"/>
            </a:xfrm>
          </p:grpSpPr>
          <p:sp>
            <p:nvSpPr>
              <p:cNvPr descr="17bb51ea-86f0-4a19-8af9-b59eefbb41f1" id="10" name="Text2">
                <a:extLst>
                  <a:ext uri="{FF2B5EF4-FFF2-40B4-BE49-F238E27FC236}">
                    <a16:creationId id="{960CFB30-E40D-C247-AA79-434E87FCFE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8" y="2899507"/>
                <a:ext cx="7628401" cy="1137681"/>
              </a:xfrm>
              <a:prstGeom prst="rect">
                <a:avLst/>
              </a:prstGeom>
              <a:noFill/>
            </p:spPr>
            <p:txBody>
              <a:bodyPr anchor="t" anchorCtr="0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lnSpc>
                    <a:spcPct val="150000"/>
                  </a:lnSpc>
                  <a:defRPr baseline="0" cap="none" i="0" kern="1200" kumimoji="0" normalizeH="0" spc="0" strike="noStrike" sz="1050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200">
                    <a:cs typeface="+mn-ea"/>
                    <a:sym typeface="+mn-lt"/>
                  </a:rPr>
                  <a:t>程序化处理降低平台法律风险，提升纠纷解决效率</a:t>
                </a:r>
                <a:endParaRPr dirty="0" lang="en-US"/>
              </a:p>
            </p:txBody>
          </p:sp>
          <p:sp>
            <p:nvSpPr>
              <p:cNvPr descr="f5722ede-0157-4317-93db-1397926a3936" id="12" name="Bullet2">
                <a:extLst>
                  <a:ext uri="{FF2B5EF4-FFF2-40B4-BE49-F238E27FC236}">
                    <a16:creationId id="{4E02A754-3B33-4378-9BA8-1007B1727A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9" y="2454892"/>
                <a:ext cx="7628401" cy="444616"/>
              </a:xfrm>
              <a:prstGeom prst="rect">
                <a:avLst/>
              </a:prstGeom>
              <a:noFill/>
            </p:spPr>
            <p:txBody>
              <a:bodyPr anchor="ctr" anchorCtr="0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b="1" baseline="0" cap="none" i="0" kern="1200" kumimoji="0" normalizeH="0" spc="0" strike="noStrike" sz="1400" u="none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800">
                    <a:solidFill>
                      <a:schemeClr val="tx1"/>
                    </a:solidFill>
                    <a:cs typeface="+mn-ea"/>
                    <a:sym typeface="+mn-lt"/>
                  </a:rPr>
                  <a:t>核心机制为“通知+移除”程序：权利人发出包含侵权信息、权利证明等要素的书面通知 → 平台及时删除或断开链接 → 实现免责</a:t>
                </a:r>
                <a:endParaRPr dirty="0" lang="en-US"/>
              </a:p>
            </p:txBody>
          </p:sp>
          <p:sp>
            <p:nvSpPr>
              <p:cNvPr descr="2bda06c6-1c52-4b3a-b9f2-c9f764ece651" id="6" name="Number2">
                <a:extLst>
                  <a:ext uri="{FF2B5EF4-FFF2-40B4-BE49-F238E27FC236}">
                    <a16:creationId id="{132F3B82-B460-5A31-47FA-B7B50FFC89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03298" y="2454892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 bIns="45720" compatLnSpc="1" forceAA="0" fromWordArt="0" lIns="91440" numCol="1" rIns="91440" rot="0" rtlCol="0" spcCol="0" spcFirstLastPara="0" tIns="45720" vert="horz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altLang="zh-CN" b="1" dirty="0" lang="en-US" sz="1400">
                    <a:solidFill>
                      <a:srgbClr val="FFFFFF"/>
                    </a:solidFill>
                    <a:cs typeface="+mn-ea"/>
                    <a:sym typeface="+mn-lt"/>
                  </a:rPr>
                  <a:t>2</a:t>
                </a:r>
                <a:endParaRPr altLang="en-US" b="1" dirty="0" lang="zh-CN" sz="140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descr="6011ee3e-888e-46b8-9447-ef06dc10c8bd" id="13" name="组合 12">
              <a:extLst>
                <a:ext uri="{FF2B5EF4-FFF2-40B4-BE49-F238E27FC236}">
                  <a16:creationId id="{409A7A21-B6C4-067A-6D54-B754D691A572}"/>
                </a:ext>
              </a:extLst>
            </p:cNvPr>
            <p:cNvGrpSpPr/>
            <p:nvPr/>
          </p:nvGrpSpPr>
          <p:grpSpPr>
            <a:xfrm>
              <a:off x="3403298" y="4551804"/>
              <a:ext cx="8115602" cy="1582296"/>
              <a:chOff x="3403298" y="3726303"/>
              <a:chExt cx="8115602" cy="1582296"/>
            </a:xfrm>
          </p:grpSpPr>
          <p:sp>
            <p:nvSpPr>
              <p:cNvPr descr="e6359e6c-b062-4f56-bc5a-6157a42b03b2" id="24" name="Text3">
                <a:extLst>
                  <a:ext uri="{FF2B5EF4-FFF2-40B4-BE49-F238E27FC236}">
                    <a16:creationId id="{2E0AE698-B52C-2041-5467-86F227371E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8" y="4170918"/>
                <a:ext cx="7628401" cy="1137681"/>
              </a:xfrm>
              <a:prstGeom prst="rect">
                <a:avLst/>
              </a:prstGeom>
              <a:noFill/>
            </p:spPr>
            <p:txBody>
              <a:bodyPr anchor="t" anchorCtr="0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lnSpc>
                    <a:spcPct val="150000"/>
                  </a:lnSpc>
                  <a:defRPr baseline="0" cap="none" i="0" kern="1200" kumimoji="0" normalizeH="0" spc="0" strike="noStrike" sz="1050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200">
                    <a:cs typeface="+mn-ea"/>
                    <a:sym typeface="+mn-lt"/>
                  </a:rPr>
                  <a:t>技术中立性是其法理基础，强调平台作为“通道”而非“内容生产者”的角色定位</a:t>
                </a:r>
                <a:endParaRPr dirty="0" lang="en-US"/>
              </a:p>
            </p:txBody>
          </p:sp>
          <p:sp>
            <p:nvSpPr>
              <p:cNvPr descr="7db39d2b-b656-43fb-b6af-c0596dca7ec6" id="25" name="Bullet3">
                <a:extLst>
                  <a:ext uri="{FF2B5EF4-FFF2-40B4-BE49-F238E27FC236}">
                    <a16:creationId id="{292E9BD9-DAFA-AE67-5066-C91FA7B8AB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9" y="3726303"/>
                <a:ext cx="7628401" cy="444616"/>
              </a:xfrm>
              <a:prstGeom prst="rect">
                <a:avLst/>
              </a:prstGeom>
              <a:noFill/>
            </p:spPr>
            <p:txBody>
              <a:bodyPr anchor="ctr" anchorCtr="0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b="1" baseline="0" cap="none" i="0" kern="1200" kumimoji="0" normalizeH="0" spc="0" strike="noStrike" sz="1400" u="none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800">
                    <a:solidFill>
                      <a:schemeClr val="tx1"/>
                    </a:solidFill>
                    <a:cs typeface="+mn-ea"/>
                    <a:sym typeface="+mn-lt"/>
                  </a:rPr>
                  <a:t>原则适用范围已从著作权扩展至搜索引擎、网络存储、在线图书馆等多个领域</a:t>
                </a:r>
                <a:endParaRPr dirty="0" lang="en-US"/>
              </a:p>
            </p:txBody>
          </p:sp>
          <p:sp>
            <p:nvSpPr>
              <p:cNvPr descr="0121bb36-b017-480d-ab30-f1b61221fba3" id="22" name="Number3">
                <a:extLst>
                  <a:ext uri="{FF2B5EF4-FFF2-40B4-BE49-F238E27FC236}">
                    <a16:creationId id="{77D6366D-9794-C513-D7CA-5E743D3E46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03298" y="3726303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 bIns="45720" compatLnSpc="1" forceAA="0" fromWordArt="0" lIns="91440" numCol="1" rIns="91440" rot="0" rtlCol="0" spcCol="0" spcFirstLastPara="0" tIns="45720" vert="horz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altLang="zh-CN" b="1" dirty="0" lang="en-US" sz="1400">
                    <a:solidFill>
                      <a:srgbClr val="FFFFFF"/>
                    </a:solidFill>
                    <a:cs typeface="+mn-ea"/>
                    <a:sym typeface="+mn-lt"/>
                  </a:rPr>
                  <a:t>3</a:t>
                </a:r>
                <a:endParaRPr altLang="en-US" b="1" dirty="0" lang="zh-CN" sz="140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起源与发展历程</a:t>
            </a:r>
            <a:endParaRPr dirty="0" lang="en-US"/>
          </a:p>
        </p:txBody>
      </p:sp>
      <p:grpSp>
        <p:nvGrpSpPr>
          <p:cNvPr descr="37fc26f4-d437-4982-8e9c-510625fb3c1c" id="8" name="37e9254f-cd01-4222-a8b3-518de6c71795.source.3.zh-Hans.pptx">
            <a:extLst>
              <a:ext uri="{FF2B5EF4-FFF2-40B4-BE49-F238E27FC236}">
                <a16:creationId id="{4B67268B-40CA-998D-B7BC-F51C28E8AF21}"/>
              </a:ext>
            </a:extLst>
          </p:cNvPr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descr="529f15c4-ab04-4ff2-8a5f-aa675f3d456c" id="10" name="Title">
              <a:extLst>
                <a:ext uri="{FF2B5EF4-FFF2-40B4-BE49-F238E27FC236}">
                  <a16:creationId id="{1917146B-566D-E24A-4D93-F53E58805625}"/>
                </a:ext>
              </a:extLst>
            </p:cNvPr>
            <p:cNvSpPr>
              <a:spLocks/>
            </p:cNvSpPr>
            <p:nvPr/>
          </p:nvSpPr>
          <p:spPr>
            <a:xfrm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square">
              <a:normAutofit/>
            </a:bodyPr>
            <a:lstStyle/>
            <a:p>
              <a:pPr/>
              <a:r>
                <a:rPr altLang="en-US" b="1" dirty="0" lang="zh-CN" sz="2400">
                  <a:solidFill>
                    <a:schemeClr val="tx1"/>
                  </a:solidFill>
                </a:rPr>
                <a:t>从美国DMCA到中国法律体系的演进</a:t>
              </a:r>
              <a:endParaRPr dirty="0" lang="en-US"/>
            </a:p>
          </p:txBody>
        </p:sp>
        <p:grpSp>
          <p:nvGrpSpPr>
            <p:cNvPr descr="211370cb-ebb0-4b02-ade0-8066439210e1" id="37" name="组合 36">
              <a:extLst>
                <a:ext uri="{FF2B5EF4-FFF2-40B4-BE49-F238E27FC236}">
                  <a16:creationId id="{FC81A1FF-A457-E519-C4C4-D11E8840BE3C}"/>
                </a:ext>
              </a:extLst>
            </p:cNvPr>
            <p:cNvGrpSpPr/>
            <p:nvPr/>
          </p:nvGrpSpPr>
          <p:grpSpPr>
            <a:xfrm>
              <a:off x="660400" y="1761003"/>
              <a:ext cx="10858500" cy="1408612"/>
              <a:chOff x="885625" y="1931699"/>
              <a:chExt cx="10858500" cy="1408612"/>
            </a:xfrm>
          </p:grpSpPr>
          <p:sp>
            <p:nvSpPr>
              <p:cNvPr descr="83348fe8-560a-4c96-a17c-a7fb60654846" id="34" name="Number1">
                <a:extLst>
                  <a:ext uri="{FF2B5EF4-FFF2-40B4-BE49-F238E27FC236}">
                    <a16:creationId id="{4A9F02B9-2A22-7122-0FD4-AD1A13F02064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1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6ff2e7b4-ae48-4943-b5f9-a862385423f3" id="35" name="Bullet1">
                <a:extLst>
                  <a:ext uri="{FF2B5EF4-FFF2-40B4-BE49-F238E27FC236}">
                    <a16:creationId id="{877D742E-9C11-962F-0A57-946046E17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起源于美国1998年《数字千年版权法》（DMCA），旨在限制网络中介服务商的间接侵权责任</a:t>
                </a:r>
                <a:endParaRPr dirty="0" lang="en-US"/>
              </a:p>
            </p:txBody>
          </p:sp>
          <p:sp>
            <p:nvSpPr>
              <p:cNvPr descr="18b9a8b7-78f4-49ea-b031-0d75da372ff9" id="36" name="Text1">
                <a:extLst>
                  <a:ext uri="{FF2B5EF4-FFF2-40B4-BE49-F238E27FC236}">
                    <a16:creationId id="{63D152DC-2883-2FAB-5716-07852BCDBC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应对网络内容爆炸式增长，避免平台因用户行为承担无限责任</a:t>
                </a:r>
                <a:endParaRPr dirty="0" lang="en-US"/>
              </a:p>
            </p:txBody>
          </p:sp>
        </p:grpSp>
        <p:grpSp>
          <p:nvGrpSpPr>
            <p:cNvPr descr="64f83a74-a450-4820-97c8-13ad2f3d976a" id="2" name="组合 1">
              <a:extLst>
                <a:ext uri="{FF2B5EF4-FFF2-40B4-BE49-F238E27FC236}">
                  <a16:creationId id="{4C6048AA-87BB-BD2B-30D9-CBCCB477A886}"/>
                </a:ext>
              </a:extLst>
            </p:cNvPr>
            <p:cNvGrpSpPr/>
            <p:nvPr/>
          </p:nvGrpSpPr>
          <p:grpSpPr>
            <a:xfrm>
              <a:off x="660400" y="3243246"/>
              <a:ext cx="10858500" cy="1408612"/>
              <a:chOff x="885625" y="1931699"/>
              <a:chExt cx="10858500" cy="1408612"/>
            </a:xfrm>
          </p:grpSpPr>
          <p:sp>
            <p:nvSpPr>
              <p:cNvPr descr="60621995-5825-4fd8-8e1c-2c534872ef31" id="3" name="Number2">
                <a:extLst>
                  <a:ext uri="{FF2B5EF4-FFF2-40B4-BE49-F238E27FC236}">
                    <a16:creationId id="{E723EC43-AF31-82AF-139C-5FB99A7C7936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2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0123b2c1-3a64-4e66-82e3-614aee91cc1f" id="4" name="Bullet2">
                <a:extLst>
                  <a:ext uri="{FF2B5EF4-FFF2-40B4-BE49-F238E27FC236}">
                    <a16:creationId id="{F4FBC59C-4887-9103-2516-EB69EB0F96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中国于2006年7月实施《信息网络传播权保护条例》，正式引入该原则并本土化</a:t>
                </a:r>
                <a:endParaRPr dirty="0" lang="en-US"/>
              </a:p>
            </p:txBody>
          </p:sp>
          <p:sp>
            <p:nvSpPr>
              <p:cNvPr descr="917e7a28-91ba-4b88-85a2-3a16b1def3f3" id="5" name="Text2">
                <a:extLst>
                  <a:ext uri="{FF2B5EF4-FFF2-40B4-BE49-F238E27FC236}">
                    <a16:creationId id="{8A68049D-109D-B26B-34F2-2247206ED0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第14条确立“通知”程序，第23条明确“移除”免责条件，构建基本法律框架</a:t>
                </a:r>
                <a:endParaRPr dirty="0" lang="en-US"/>
              </a:p>
            </p:txBody>
          </p:sp>
        </p:grpSp>
        <p:grpSp>
          <p:nvGrpSpPr>
            <p:cNvPr descr="f7622804-9359-4a7b-9285-c47e98a3a50d" id="6" name="组合 5">
              <a:extLst>
                <a:ext uri="{FF2B5EF4-FFF2-40B4-BE49-F238E27FC236}">
                  <a16:creationId id="{FBD6225E-72D2-F478-E1EE-701A08C9294E}"/>
                </a:ext>
              </a:extLst>
            </p:cNvPr>
            <p:cNvGrpSpPr/>
            <p:nvPr/>
          </p:nvGrpSpPr>
          <p:grpSpPr>
            <a:xfrm>
              <a:off x="660400" y="4725488"/>
              <a:ext cx="10858500" cy="1408612"/>
              <a:chOff x="885625" y="1931699"/>
              <a:chExt cx="10858500" cy="1408612"/>
            </a:xfrm>
          </p:grpSpPr>
          <p:sp>
            <p:nvSpPr>
              <p:cNvPr descr="cafaa2e8-c1ed-4f16-82c1-73102866461d" id="7" name="Number3">
                <a:extLst>
                  <a:ext uri="{FF2B5EF4-FFF2-40B4-BE49-F238E27FC236}">
                    <a16:creationId id="{7DF51940-3593-9994-8CD1-8BD0B0324939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3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278b1d9e-0b59-4579-a6f5-e7077e538633" id="11" name="Bullet3">
                <a:extLst>
                  <a:ext uri="{FF2B5EF4-FFF2-40B4-BE49-F238E27FC236}">
                    <a16:creationId id="{7AF4B05A-9512-21F2-19A1-956C4AB919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《民法典》第1197条引入“红旗原则”，补充“明知或应知”情形下的连带责任</a:t>
                </a:r>
                <a:endParaRPr dirty="0" lang="en-US"/>
              </a:p>
            </p:txBody>
          </p:sp>
          <p:sp>
            <p:nvSpPr>
              <p:cNvPr descr="d3129ac9-2476-4a44-9d8d-b370cbd34701" id="12" name="Text3">
                <a:extLst>
                  <a:ext uri="{FF2B5EF4-FFF2-40B4-BE49-F238E27FC236}">
                    <a16:creationId id="{D7C4BE5C-89E9-1A26-CB0C-CD3DA5621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实现从被动免责向主动审查义务的制度演进，完善责任边界</a:t>
                </a:r>
                <a:endParaRPr dirty="0" lang="en-US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通知+移除流程</a:t>
            </a:r>
            <a:endParaRPr dirty="0" lang="en-US"/>
          </a:p>
        </p:txBody>
      </p:sp>
      <p:grpSp>
        <p:nvGrpSpPr>
          <p:cNvPr descr="37fc26f4-d437-4982-8e9c-510625fb3c1c" id="8" name="37e9254f-cd01-4222-a8b3-518de6c71795.source.3.zh-Hans.pptx">
            <a:extLst>
              <a:ext uri="{FF2B5EF4-FFF2-40B4-BE49-F238E27FC236}">
                <a16:creationId id="{4B67268B-40CA-998D-B7BC-F51C28E8AF21}"/>
              </a:ext>
            </a:extLst>
          </p:cNvPr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descr="529f15c4-ab04-4ff2-8a5f-aa675f3d456c" id="10" name="Title">
              <a:extLst>
                <a:ext uri="{FF2B5EF4-FFF2-40B4-BE49-F238E27FC236}">
                  <a16:creationId id="{1917146B-566D-E24A-4D93-F53E58805625}"/>
                </a:ext>
              </a:extLst>
            </p:cNvPr>
            <p:cNvSpPr>
              <a:spLocks/>
            </p:cNvSpPr>
            <p:nvPr/>
          </p:nvSpPr>
          <p:spPr>
            <a:xfrm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square">
              <a:normAutofit/>
            </a:bodyPr>
            <a:lstStyle/>
            <a:p>
              <a:pPr/>
              <a:r>
                <a:rPr altLang="en-US" b="1" dirty="0" lang="zh-CN" sz="2400">
                  <a:solidFill>
                    <a:schemeClr val="tx1"/>
                  </a:solidFill>
                </a:rPr>
                <a:t>法定程序与关键执行节点</a:t>
              </a:r>
              <a:endParaRPr dirty="0" lang="en-US"/>
            </a:p>
          </p:txBody>
        </p:sp>
        <p:grpSp>
          <p:nvGrpSpPr>
            <p:cNvPr descr="211370cb-ebb0-4b02-ade0-8066439210e1" id="37" name="组合 36">
              <a:extLst>
                <a:ext uri="{FF2B5EF4-FFF2-40B4-BE49-F238E27FC236}">
                  <a16:creationId id="{FC81A1FF-A457-E519-C4C4-D11E8840BE3C}"/>
                </a:ext>
              </a:extLst>
            </p:cNvPr>
            <p:cNvGrpSpPr/>
            <p:nvPr/>
          </p:nvGrpSpPr>
          <p:grpSpPr>
            <a:xfrm>
              <a:off x="660400" y="1761003"/>
              <a:ext cx="10858500" cy="1408612"/>
              <a:chOff x="885625" y="1931699"/>
              <a:chExt cx="10858500" cy="1408612"/>
            </a:xfrm>
          </p:grpSpPr>
          <p:sp>
            <p:nvSpPr>
              <p:cNvPr descr="83348fe8-560a-4c96-a17c-a7fb60654846" id="34" name="Number1">
                <a:extLst>
                  <a:ext uri="{FF2B5EF4-FFF2-40B4-BE49-F238E27FC236}">
                    <a16:creationId id="{4A9F02B9-2A22-7122-0FD4-AD1A13F02064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1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6ff2e7b4-ae48-4943-b5f9-a862385423f3" id="35" name="Bullet1">
                <a:extLst>
                  <a:ext uri="{FF2B5EF4-FFF2-40B4-BE49-F238E27FC236}">
                    <a16:creationId id="{877D742E-9C11-962F-0A57-946046E17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权利人通知需包含三项法定内容：权利人身份信息、侵权内容名称及网络地址、初步侵权证明材料</a:t>
                </a:r>
                <a:endParaRPr dirty="0" lang="en-US"/>
              </a:p>
            </p:txBody>
          </p:sp>
          <p:sp>
            <p:nvSpPr>
              <p:cNvPr descr="18b9a8b7-78f4-49ea-b031-0d75da372ff9" id="36" name="Text1">
                <a:extLst>
                  <a:ext uri="{FF2B5EF4-FFF2-40B4-BE49-F238E27FC236}">
                    <a16:creationId id="{63D152DC-2883-2FAB-5716-07852BCDBC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通知形式须书面，真实性由权利人负责，防止恶意投诉</a:t>
                </a:r>
                <a:endParaRPr dirty="0" lang="en-US"/>
              </a:p>
            </p:txBody>
          </p:sp>
        </p:grpSp>
        <p:grpSp>
          <p:nvGrpSpPr>
            <p:cNvPr descr="64f83a74-a450-4820-97c8-13ad2f3d976a" id="2" name="组合 1">
              <a:extLst>
                <a:ext uri="{FF2B5EF4-FFF2-40B4-BE49-F238E27FC236}">
                  <a16:creationId id="{4C6048AA-87BB-BD2B-30D9-CBCCB477A886}"/>
                </a:ext>
              </a:extLst>
            </p:cNvPr>
            <p:cNvGrpSpPr/>
            <p:nvPr/>
          </p:nvGrpSpPr>
          <p:grpSpPr>
            <a:xfrm>
              <a:off x="660400" y="3243246"/>
              <a:ext cx="10858500" cy="1408612"/>
              <a:chOff x="885625" y="1931699"/>
              <a:chExt cx="10858500" cy="1408612"/>
            </a:xfrm>
          </p:grpSpPr>
          <p:sp>
            <p:nvSpPr>
              <p:cNvPr descr="60621995-5825-4fd8-8e1c-2c534872ef31" id="3" name="Number2">
                <a:extLst>
                  <a:ext uri="{FF2B5EF4-FFF2-40B4-BE49-F238E27FC236}">
                    <a16:creationId id="{E723EC43-AF31-82AF-139C-5FB99A7C7936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2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0123b2c1-3a64-4e66-82e3-614aee91cc1f" id="4" name="Bullet2">
                <a:extLst>
                  <a:ext uri="{FF2B5EF4-FFF2-40B4-BE49-F238E27FC236}">
                    <a16:creationId id="{F4FBC59C-4887-9103-2516-EB69EB0F96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网络服务提供者应在合理时间内采取删除、屏蔽、断开链接等必要措施</a:t>
                </a:r>
                <a:endParaRPr dirty="0" lang="en-US"/>
              </a:p>
            </p:txBody>
          </p:sp>
          <p:sp>
            <p:nvSpPr>
              <p:cNvPr descr="917e7a28-91ba-4b88-85a2-3a16b1def3f3" id="5" name="Text2">
                <a:extLst>
                  <a:ext uri="{FF2B5EF4-FFF2-40B4-BE49-F238E27FC236}">
                    <a16:creationId id="{8A68049D-109D-B26B-34F2-2247206ED0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“及时”通常理解为24-48小时内，具体依侵权严重性与技术条件而定</a:t>
                </a:r>
                <a:endParaRPr dirty="0" lang="en-US"/>
              </a:p>
            </p:txBody>
          </p:sp>
        </p:grpSp>
        <p:grpSp>
          <p:nvGrpSpPr>
            <p:cNvPr descr="f7622804-9359-4a7b-9285-c47e98a3a50d" id="6" name="组合 5">
              <a:extLst>
                <a:ext uri="{FF2B5EF4-FFF2-40B4-BE49-F238E27FC236}">
                  <a16:creationId id="{FBD6225E-72D2-F478-E1EE-701A08C9294E}"/>
                </a:ext>
              </a:extLst>
            </p:cNvPr>
            <p:cNvGrpSpPr/>
            <p:nvPr/>
          </p:nvGrpSpPr>
          <p:grpSpPr>
            <a:xfrm>
              <a:off x="660400" y="4725488"/>
              <a:ext cx="10858500" cy="1408612"/>
              <a:chOff x="885625" y="1931699"/>
              <a:chExt cx="10858500" cy="1408612"/>
            </a:xfrm>
          </p:grpSpPr>
          <p:sp>
            <p:nvSpPr>
              <p:cNvPr descr="cafaa2e8-c1ed-4f16-82c1-73102866461d" id="7" name="Number3">
                <a:extLst>
                  <a:ext uri="{FF2B5EF4-FFF2-40B4-BE49-F238E27FC236}">
                    <a16:creationId id="{7DF51940-3593-9994-8CD1-8BD0B0324939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3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278b1d9e-0b59-4579-a6f5-e7077e538633" id="11" name="Bullet3">
                <a:extLst>
                  <a:ext uri="{FF2B5EF4-FFF2-40B4-BE49-F238E27FC236}">
                    <a16:creationId id="{7AF4B05A-9512-21F2-19A1-956C4AB919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完成移除后，平台可依法主张免责，但若“明知或应知”侵权仍不作为，则不适用避风港</a:t>
                </a:r>
                <a:endParaRPr dirty="0" lang="en-US"/>
              </a:p>
            </p:txBody>
          </p:sp>
          <p:sp>
            <p:nvSpPr>
              <p:cNvPr descr="d3129ac9-2476-4a44-9d8d-b370cbd34701" id="12" name="Text3">
                <a:extLst>
                  <a:ext uri="{FF2B5EF4-FFF2-40B4-BE49-F238E27FC236}">
                    <a16:creationId id="{D7C4BE5C-89E9-1A26-CB0C-CD3DA5621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司法实践中，“红旗标准”成为判断主观过错的关键依据</a:t>
                </a:r>
                <a:endParaRPr dirty="0" lang="en-US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e432bed3-95bb-4ff9-a468-9817f6fd6cdb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法律体系</a:t>
            </a:r>
            <a:endParaRPr dirty="0" lang="en-US"/>
          </a:p>
        </p:txBody>
      </p:sp>
      <p:sp>
        <p:nvSpPr>
          <p:cNvPr descr="30ecfc98-2258-43d3-8443-dd7f3d2bb5c9" id="3" name=""/>
          <p:cNvSpPr>
            <a:spLocks noGrp="1"/>
          </p:cNvSpPr>
          <p:nvPr>
            <p:ph hasCustomPrompt="1" idx="1" type="body"/>
          </p:nvPr>
        </p:nvSpPr>
        <p:spPr/>
        <p:txBody>
          <a:bodyPr/>
          <a:lstStyle/>
          <a:p>
            <a:pPr/>
            <a:r>
              <a:rPr altLang="en-US" dirty="0" lang="zh-CN"/>
              <a:t>中国法规与国际立法的免责框架</a:t>
            </a:r>
            <a:endParaRPr dirty="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中国核心法规体系</a:t>
            </a:r>
            <a:endParaRPr dirty="0" lang="en-US"/>
          </a:p>
        </p:txBody>
      </p:sp>
      <p:grpSp>
        <p:nvGrpSpPr>
          <p:cNvPr descr="874943a2-63d5-4df9-8713-071d1a96626d" id="38" name="dfb8e719-bc77-4df4-ad66-c9f63a1f8954.source.4.zh-Hans.pptx">
            <a:extLst>
              <a:ext uri="{FF2B5EF4-FFF2-40B4-BE49-F238E27FC236}">
                <a16:creationId id="{81D52908-E2FA-7661-DC34-EFD9B3AD049C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grpSp>
          <p:nvGrpSpPr>
            <p:cNvPr descr="80bd9c40-1bfe-490a-bbde-a5d236b9239a" id="7" name="组合 6">
              <a:extLst>
                <a:ext uri="{FF2B5EF4-FFF2-40B4-BE49-F238E27FC236}">
                  <a16:creationId id="{E0026946-55F4-8909-343E-0E97D3AE3530}"/>
                </a:ext>
              </a:extLst>
            </p:cNvPr>
            <p:cNvGrpSpPr/>
            <p:nvPr/>
          </p:nvGrpSpPr>
          <p:grpSpPr>
            <a:xfrm>
              <a:off x="660400" y="1130300"/>
              <a:ext cx="10858500" cy="5003800"/>
              <a:chOff x="660400" y="1130300"/>
              <a:chExt cx="10858500" cy="5003800"/>
            </a:xfrm>
          </p:grpSpPr>
          <p:sp>
            <p:nvSpPr>
              <p:cNvPr descr="4a0ed252-02d5-4784-bd6b-c03315533aa7" id="6" name="Title">
                <a:extLst>
                  <a:ext uri="{FF2B5EF4-FFF2-40B4-BE49-F238E27FC236}">
                    <a16:creationId id="{9EADEBEA-C144-4874-CD75-0A364664DD32}"/>
                  </a:ext>
                </a:extLst>
              </p:cNvPr>
              <p:cNvSpPr/>
              <p:nvPr/>
            </p:nvSpPr>
            <p:spPr>
              <a:xfrm>
                <a:off x="660400" y="1130300"/>
                <a:ext cx="10858500" cy="720000"/>
              </a:xfrm>
              <a:prstGeom prst="roundRect">
                <a:avLst>
                  <a:gd fmla="val 0" name="adj"/>
                </a:avLst>
              </a:prstGeom>
              <a:noFill/>
              <a:ln cap="rnd" w="6350">
                <a:solidFill>
                  <a:schemeClr val="tx1">
                    <a:alpha val="50000"/>
                  </a:schemeClr>
                </a:solidFill>
                <a:prstDash val="solid"/>
                <a:round/>
              </a:ln>
              <a:effectLst>
                <a:outerShdw algn="ctr" blurRad="254000" dir="5400000" dist="127000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defTabSz="913765"/>
                <a:r>
                  <a:rPr altLang="en-US" b="1" dirty="0" lang="zh-CN" sz="2400">
                    <a:solidFill>
                      <a:schemeClr val="tx1"/>
                    </a:solidFill>
                    <a:cs typeface="+mn-ea"/>
                    <a:sym typeface="+mn-lt"/>
                  </a:rPr>
                  <a:t>“通知+移除”制度的法律基础</a:t>
                </a:r>
                <a:endParaRPr dirty="0" lang="en-US"/>
              </a:p>
            </p:txBody>
          </p:sp>
          <p:grpSp>
            <p:nvGrpSpPr>
              <p:cNvPr descr="262c528f-5232-4c5e-b150-11250242b2ba" id="23" name="组合 22">
                <a:extLst>
                  <a:ext uri="{FF2B5EF4-FFF2-40B4-BE49-F238E27FC236}">
                    <a16:creationId id="{6F2AB0A5-E8CB-57BD-1938-C55EEAE71CA5}"/>
                  </a:ext>
                </a:extLst>
              </p:cNvPr>
              <p:cNvGrpSpPr/>
              <p:nvPr/>
            </p:nvGrpSpPr>
            <p:grpSpPr>
              <a:xfrm>
                <a:off x="660400" y="2720937"/>
                <a:ext cx="2304000" cy="3413163"/>
                <a:chOff x="660400" y="2720937"/>
                <a:chExt cx="2304000" cy="3413163"/>
              </a:xfrm>
            </p:grpSpPr>
            <p:sp>
              <p:nvSpPr>
                <p:cNvPr descr="a98fcd44-937e-4e1a-9d73-8c30f134c64b" id="8" name="Bullet1">
                  <a:extLst>
                    <a:ext uri="{FF2B5EF4-FFF2-40B4-BE49-F238E27FC236}">
                      <a16:creationId id="{F75B52D5-FC58-5D6B-D14C-A5110FF1F73C}"/>
                    </a:ext>
                  </a:extLst>
                </p:cNvPr>
                <p:cNvSpPr/>
                <p:nvPr/>
              </p:nvSpPr>
              <p:spPr>
                <a:xfrm>
                  <a:off x="660400" y="3080937"/>
                  <a:ext cx="2304000" cy="558000"/>
                </a:xfrm>
                <a:prstGeom prst="rect">
                  <a:avLst/>
                </a:prstGeom>
                <a:noFill/>
                <a:ln cap="rnd" w="6350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algn="ctr" blurRad="254000" dir="5400000" dist="127000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square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</a:pPr>
                  <a:r>
                    <a:rPr altLang="en-US" b="1" dirty="0" lang="zh-CN">
                      <a:solidFill>
                        <a:schemeClr val="tx1"/>
                      </a:solidFill>
                      <a:cs typeface="+mn-ea"/>
                      <a:sym typeface="+mn-lt"/>
                    </a:rPr>
                    <a:t>《信息网络传播权保护条例》第14条</a:t>
                  </a:r>
                  <a:endParaRPr dirty="0" lang="en-US"/>
                </a:p>
              </p:txBody>
            </p:sp>
            <p:sp>
              <p:nvSpPr>
                <p:cNvPr descr="89b6a30f-88bc-4ddd-9842-b2b4197ef161" id="9" name="Text1">
                  <a:extLst>
                    <a:ext uri="{FF2B5EF4-FFF2-40B4-BE49-F238E27FC236}">
                      <a16:creationId id="{7C075721-275B-EB00-F669-352A8D7577E9}"/>
                    </a:ext>
                  </a:extLst>
                </p:cNvPr>
                <p:cNvSpPr/>
                <p:nvPr/>
              </p:nvSpPr>
              <p:spPr>
                <a:xfrm>
                  <a:off x="660400" y="3755726"/>
                  <a:ext cx="2304000" cy="23783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rtlCol="0"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altLang="en-US" dirty="0" lang="zh-CN" sz="1200">
                      <a:solidFill>
                        <a:schemeClr val="tx1"/>
                      </a:solidFill>
                      <a:cs typeface="+mn-ea"/>
                      <a:sym typeface="+mn-lt"/>
                    </a:rPr>
                    <a:t>明确“通知”程序：权利人需提交侵权内容名称、网络地址及初步证明材料，方可要求删除或断开链接</a:t>
                  </a:r>
                  <a:endParaRPr dirty="0" lang="en-US"/>
                </a:p>
              </p:txBody>
            </p:sp>
            <p:sp>
              <p:nvSpPr>
                <p:cNvPr descr="c9e61ae9-bdee-4e7a-9821-bba963db40e0" id="10" name="Number1">
                  <a:extLst>
                    <a:ext uri="{FF2B5EF4-FFF2-40B4-BE49-F238E27FC236}">
                      <a16:creationId id="{B052B98A-B24D-26C5-5BB9-CF292A3D7CA2}"/>
                    </a:ext>
                  </a:extLst>
                </p:cNvPr>
                <p:cNvSpPr/>
                <p:nvPr/>
              </p:nvSpPr>
              <p:spPr>
                <a:xfrm>
                  <a:off x="1355375" y="2720937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3765"/>
                  <a:r>
                    <a:rPr dirty="0" lang="en-US" sz="1600">
                      <a:solidFill>
                        <a:srgbClr val="FFFFFF"/>
                      </a:solidFill>
                      <a:cs typeface="+mn-ea"/>
                      <a:sym typeface="+mn-lt"/>
                    </a:rPr>
                    <a:t>1</a:t>
                  </a:r>
                  <a:endParaRPr dirty="0" sz="160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descr="686bc853-3166-4c97-866f-8cc810c7bacb" id="24" name="组合 23">
                <a:extLst>
                  <a:ext uri="{FF2B5EF4-FFF2-40B4-BE49-F238E27FC236}">
                    <a16:creationId id="{DB7D9597-16A0-646C-1FF3-71D4A41780E3}"/>
                  </a:ext>
                </a:extLst>
              </p:cNvPr>
              <p:cNvGrpSpPr/>
              <p:nvPr/>
            </p:nvGrpSpPr>
            <p:grpSpPr>
              <a:xfrm>
                <a:off x="3511900" y="2720937"/>
                <a:ext cx="2304000" cy="3413163"/>
                <a:chOff x="3511900" y="2720937"/>
                <a:chExt cx="2304000" cy="3413163"/>
              </a:xfrm>
            </p:grpSpPr>
            <p:sp>
              <p:nvSpPr>
                <p:cNvPr descr="7f1c8299-a34d-4870-b342-b2c9e81e2ca0" id="12" name="Bullet2">
                  <a:extLst>
                    <a:ext uri="{FF2B5EF4-FFF2-40B4-BE49-F238E27FC236}">
                      <a16:creationId id="{C8B39FC8-DBB4-30EE-C305-6CEDFFA7C7BE}"/>
                    </a:ext>
                  </a:extLst>
                </p:cNvPr>
                <p:cNvSpPr/>
                <p:nvPr/>
              </p:nvSpPr>
              <p:spPr>
                <a:xfrm>
                  <a:off x="3511900" y="3080937"/>
                  <a:ext cx="2304000" cy="558000"/>
                </a:xfrm>
                <a:prstGeom prst="rect">
                  <a:avLst/>
                </a:prstGeom>
                <a:noFill/>
                <a:ln cap="rnd" w="6350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algn="ctr" blurRad="254000" dir="5400000" dist="127000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square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</a:pPr>
                  <a:r>
                    <a:rPr altLang="en-US" b="1" dirty="0" lang="zh-CN">
                      <a:solidFill>
                        <a:schemeClr val="tx1"/>
                      </a:solidFill>
                      <a:cs typeface="+mn-ea"/>
                      <a:sym typeface="+mn-lt"/>
                    </a:rPr>
                    <a:t>《信息网络传播权保护条例》第23条</a:t>
                  </a:r>
                  <a:endParaRPr dirty="0" lang="en-US"/>
                </a:p>
              </p:txBody>
            </p:sp>
            <p:sp>
              <p:nvSpPr>
                <p:cNvPr descr="06221348-7db8-49b1-b419-4e531e20583f" id="13" name="Text2">
                  <a:extLst>
                    <a:ext uri="{FF2B5EF4-FFF2-40B4-BE49-F238E27FC236}">
                      <a16:creationId id="{65E2AEBB-2ECB-347D-55F8-A0A24CB694D1}"/>
                    </a:ext>
                  </a:extLst>
                </p:cNvPr>
                <p:cNvSpPr/>
                <p:nvPr/>
              </p:nvSpPr>
              <p:spPr>
                <a:xfrm>
                  <a:off x="3511900" y="3755726"/>
                  <a:ext cx="2304000" cy="23783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rtlCol="0"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altLang="en-US" dirty="0" err="1" lang="zh-CN" sz="1200">
                      <a:solidFill>
                        <a:schemeClr val="tx1"/>
                      </a:solidFill>
                      <a:cs typeface="+mn-ea"/>
                      <a:sym typeface="+mn-lt"/>
                    </a:rPr>
                    <a:t>规定“移除免责”：平台接到通知后断开侵权链接，不承担赔偿责任；但“明知或应知”侵权则需连带担责</a:t>
                  </a:r>
                  <a:endParaRPr dirty="0" lang="en-US"/>
                </a:p>
              </p:txBody>
            </p:sp>
            <p:sp>
              <p:nvSpPr>
                <p:cNvPr descr="4b17b0fd-f715-408a-91cc-cc69e4ffa7de" id="14" name="Number2">
                  <a:extLst>
                    <a:ext uri="{FF2B5EF4-FFF2-40B4-BE49-F238E27FC236}">
                      <a16:creationId id="{C08987C3-C7CF-CD07-D499-864CD10A977A}"/>
                    </a:ext>
                  </a:extLst>
                </p:cNvPr>
                <p:cNvSpPr/>
                <p:nvPr/>
              </p:nvSpPr>
              <p:spPr>
                <a:xfrm>
                  <a:off x="4206876" y="2720937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none">
                  <a:normAutofit/>
                </a:bodyPr>
                <a:lstStyle/>
                <a:p>
                  <a:pPr algn="ctr" defTabSz="913765"/>
                  <a:r>
                    <a:rPr dirty="0" lang="en-US" sz="1600">
                      <a:solidFill>
                        <a:srgbClr val="FFFFFF"/>
                      </a:solidFill>
                      <a:cs typeface="+mn-ea"/>
                      <a:sym typeface="+mn-lt"/>
                    </a:rPr>
                    <a:t>2</a:t>
                  </a:r>
                  <a:endParaRPr dirty="0" sz="160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descr="4b725f90-864a-4235-9eb5-b92de0136c99" id="25" name="组合 24">
                <a:extLst>
                  <a:ext uri="{FF2B5EF4-FFF2-40B4-BE49-F238E27FC236}">
                    <a16:creationId id="{DFA935C8-5F32-0DE7-8AC4-5B6879163B48}"/>
                  </a:ext>
                </a:extLst>
              </p:cNvPr>
              <p:cNvGrpSpPr/>
              <p:nvPr/>
            </p:nvGrpSpPr>
            <p:grpSpPr>
              <a:xfrm>
                <a:off x="6363401" y="2720937"/>
                <a:ext cx="2304000" cy="3413163"/>
                <a:chOff x="6363401" y="2720937"/>
                <a:chExt cx="2304000" cy="3413163"/>
              </a:xfrm>
            </p:grpSpPr>
            <p:sp>
              <p:nvSpPr>
                <p:cNvPr descr="8692622e-e216-45a0-a1ce-05cd81765f84" id="16" name="Bullet3">
                  <a:extLst>
                    <a:ext uri="{FF2B5EF4-FFF2-40B4-BE49-F238E27FC236}">
                      <a16:creationId id="{3CAC4A74-10FF-245B-3F21-2805EA839CE5}"/>
                    </a:ext>
                  </a:extLst>
                </p:cNvPr>
                <p:cNvSpPr/>
                <p:nvPr/>
              </p:nvSpPr>
              <p:spPr>
                <a:xfrm>
                  <a:off x="6363401" y="3080937"/>
                  <a:ext cx="2304000" cy="558000"/>
                </a:xfrm>
                <a:prstGeom prst="rect">
                  <a:avLst/>
                </a:prstGeom>
                <a:noFill/>
                <a:ln cap="rnd" w="6350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algn="ctr" blurRad="254000" dir="5400000" dist="127000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square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</a:pPr>
                  <a:r>
                    <a:rPr altLang="en-US" b="1" dirty="0" lang="zh-CN">
                      <a:solidFill>
                        <a:schemeClr val="tx1"/>
                      </a:solidFill>
                      <a:cs typeface="+mn-ea"/>
                      <a:sym typeface="+mn-lt"/>
                    </a:rPr>
                    <a:t>《民法典》第1197条引入“红旗原则”</a:t>
                  </a:r>
                  <a:endParaRPr dirty="0" lang="en-US"/>
                </a:p>
              </p:txBody>
            </p:sp>
            <p:sp>
              <p:nvSpPr>
                <p:cNvPr descr="743cc86d-28b2-4446-a5a5-f9054944afb4" id="17" name="Text3">
                  <a:extLst>
                    <a:ext uri="{FF2B5EF4-FFF2-40B4-BE49-F238E27FC236}">
                      <a16:creationId id="{A9BCEA28-E5E6-541D-4B4F-CBD16109D194}"/>
                    </a:ext>
                  </a:extLst>
                </p:cNvPr>
                <p:cNvSpPr/>
                <p:nvPr/>
              </p:nvSpPr>
              <p:spPr>
                <a:xfrm>
                  <a:off x="6363401" y="3755726"/>
                  <a:ext cx="2304000" cy="23783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rtlCol="0"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altLang="en-US" dirty="0" err="1" lang="zh-CN" sz="1200">
                      <a:solidFill>
                        <a:schemeClr val="tx1"/>
                      </a:solidFill>
                      <a:cs typeface="+mn-ea"/>
                      <a:sym typeface="+mn-lt"/>
                    </a:rPr>
                    <a:t>平台若知道或应当知道用户侵权而未采取措施，与用户承担连带责任，构成避风港的例外</a:t>
                  </a:r>
                  <a:endParaRPr dirty="0" lang="en-US"/>
                </a:p>
              </p:txBody>
            </p:sp>
            <p:sp>
              <p:nvSpPr>
                <p:cNvPr descr="aabf89cd-ee18-4542-b7e6-75541a3dd864" id="18" name="Number3">
                  <a:extLst>
                    <a:ext uri="{FF2B5EF4-FFF2-40B4-BE49-F238E27FC236}">
                      <a16:creationId id="{769E0FA1-FE18-2554-C19E-7D47CAA2C564}"/>
                    </a:ext>
                  </a:extLst>
                </p:cNvPr>
                <p:cNvSpPr/>
                <p:nvPr/>
              </p:nvSpPr>
              <p:spPr>
                <a:xfrm>
                  <a:off x="7058377" y="2720937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none">
                  <a:normAutofit/>
                </a:bodyPr>
                <a:lstStyle/>
                <a:p>
                  <a:pPr algn="ctr" defTabSz="913765"/>
                  <a:r>
                    <a:rPr dirty="0" lang="en-US" sz="1600">
                      <a:solidFill>
                        <a:srgbClr val="FFFFFF"/>
                      </a:solidFill>
                      <a:cs typeface="+mn-ea"/>
                      <a:sym typeface="+mn-lt"/>
                    </a:rPr>
                    <a:t>3</a:t>
                  </a:r>
                  <a:endParaRPr dirty="0" sz="160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descr="c3b6e39c-17d1-40d9-a998-834ec95f1e1e" id="26" name="组合 25">
                <a:extLst>
                  <a:ext uri="{FF2B5EF4-FFF2-40B4-BE49-F238E27FC236}">
                    <a16:creationId id="{E332858D-BDA6-D76F-212D-B25F2E0BD74B}"/>
                  </a:ext>
                </a:extLst>
              </p:cNvPr>
              <p:cNvGrpSpPr/>
              <p:nvPr/>
            </p:nvGrpSpPr>
            <p:grpSpPr>
              <a:xfrm>
                <a:off x="9214900" y="2720937"/>
                <a:ext cx="2304000" cy="3413163"/>
                <a:chOff x="9214900" y="2720937"/>
                <a:chExt cx="2304000" cy="3413163"/>
              </a:xfrm>
            </p:grpSpPr>
            <p:sp>
              <p:nvSpPr>
                <p:cNvPr descr="291f2606-9381-4a76-b100-2ec123c42c8f" id="20" name="Bullet4">
                  <a:extLst>
                    <a:ext uri="{FF2B5EF4-FFF2-40B4-BE49-F238E27FC236}">
                      <a16:creationId id="{9AB2E043-EA20-6D58-393F-F281C100B610}"/>
                    </a:ext>
                  </a:extLst>
                </p:cNvPr>
                <p:cNvSpPr/>
                <p:nvPr/>
              </p:nvSpPr>
              <p:spPr>
                <a:xfrm>
                  <a:off x="9214900" y="3080937"/>
                  <a:ext cx="2304000" cy="558000"/>
                </a:xfrm>
                <a:prstGeom prst="rect">
                  <a:avLst/>
                </a:prstGeom>
                <a:noFill/>
                <a:ln cap="rnd" w="6350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algn="ctr" blurRad="254000" dir="5400000" dist="127000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square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</a:pPr>
                  <a:r>
                    <a:rPr altLang="en-US" b="1" dirty="0" lang="zh-CN">
                      <a:solidFill>
                        <a:schemeClr val="tx1"/>
                      </a:solidFill>
                      <a:cs typeface="+mn-ea"/>
                      <a:sym typeface="+mn-lt"/>
                    </a:rPr>
                    <a:t>《互联网著作权行政保护办法》第12条</a:t>
                  </a:r>
                  <a:endParaRPr dirty="0" lang="en-US"/>
                </a:p>
              </p:txBody>
            </p:sp>
            <p:sp>
              <p:nvSpPr>
                <p:cNvPr descr="424a5e2e-fe3c-4021-b54f-726e67cec1d4" id="21" name="Text4">
                  <a:extLst>
                    <a:ext uri="{FF2B5EF4-FFF2-40B4-BE49-F238E27FC236}">
                      <a16:creationId id="{FF1912E5-0ABD-E67B-9531-BCC6EB759D39}"/>
                    </a:ext>
                  </a:extLst>
                </p:cNvPr>
                <p:cNvSpPr/>
                <p:nvPr/>
              </p:nvSpPr>
              <p:spPr>
                <a:xfrm>
                  <a:off x="9214900" y="3755726"/>
                  <a:ext cx="2304000" cy="23783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rtlCol="0"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altLang="en-US" dirty="0" err="1" lang="zh-CN" sz="1200">
                      <a:solidFill>
                        <a:schemeClr val="tx1"/>
                      </a:solidFill>
                      <a:cs typeface="+mn-ea"/>
                      <a:sym typeface="+mn-lt"/>
                    </a:rPr>
                    <a:t>明确行政免责：无证据证明平台明知侵权，或已移除内容的，不承担行政法律责任</a:t>
                  </a:r>
                  <a:endParaRPr dirty="0" lang="en-US"/>
                </a:p>
              </p:txBody>
            </p:sp>
            <p:sp>
              <p:nvSpPr>
                <p:cNvPr descr="b1245a0f-6ab0-4ad7-aa07-99e35bcff328" id="22" name="Number4">
                  <a:extLst>
                    <a:ext uri="{FF2B5EF4-FFF2-40B4-BE49-F238E27FC236}">
                      <a16:creationId id="{352254E9-F318-F124-91FE-538E322B4CBC}"/>
                    </a:ext>
                  </a:extLst>
                </p:cNvPr>
                <p:cNvSpPr/>
                <p:nvPr/>
              </p:nvSpPr>
              <p:spPr>
                <a:xfrm>
                  <a:off x="9909878" y="2720937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3765"/>
                  <a:r>
                    <a:rPr dirty="0" lang="en-US" sz="1600">
                      <a:solidFill>
                        <a:srgbClr val="FFFFFF"/>
                      </a:solidFill>
                      <a:cs typeface="+mn-ea"/>
                      <a:sym typeface="+mn-lt"/>
                    </a:rPr>
                    <a:t>4</a:t>
                  </a:r>
                  <a:endParaRPr dirty="0" sz="160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cxnSp>
          <p:nvCxnSpPr>
            <p:cNvPr descr="afd4258a-b040-4411-b593-ad374ec12ac7" id="11" name="连接符: 肘形 10">
              <a:extLst>
                <a:ext uri="{FF2B5EF4-FFF2-40B4-BE49-F238E27FC236}">
                  <a16:creationId id="{B16EE1E7-7698-FA81-6EED-DFFC8BD86F53}"/>
                </a:ext>
              </a:extLst>
            </p:cNvPr>
            <p:cNvCxnSpPr>
              <a:cxnSpLocks/>
              <a:stCxn id="6" idx="2"/>
              <a:endCxn id="10" idx="0"/>
            </p:cNvCxnSpPr>
            <p:nvPr/>
          </p:nvCxnSpPr>
          <p:spPr>
            <a:xfrm rot="5400000">
              <a:off x="3515707" y="146993"/>
              <a:ext cx="870637" cy="4277251"/>
            </a:xfrm>
            <a:prstGeom prst="bentConnector3">
              <a:avLst>
                <a:gd fmla="val 50000" name="adj1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88009ba7-3d5b-47fe-b934-d23e2b4a2987" id="15" name="连接符: 肘形 14">
              <a:extLst>
                <a:ext uri="{FF2B5EF4-FFF2-40B4-BE49-F238E27FC236}">
                  <a16:creationId id="{DC5BFA44-9270-691B-9280-611F65DE5C45}"/>
                </a:ext>
              </a:extLst>
            </p:cNvPr>
            <p:cNvCxnSpPr>
              <a:cxnSpLocks/>
              <a:stCxn id="6" idx="2"/>
              <a:endCxn id="14" idx="0"/>
            </p:cNvCxnSpPr>
            <p:nvPr/>
          </p:nvCxnSpPr>
          <p:spPr>
            <a:xfrm rot="5400000">
              <a:off x="4941457" y="1572743"/>
              <a:ext cx="870637" cy="1425750"/>
            </a:xfrm>
            <a:prstGeom prst="bentConnector3">
              <a:avLst>
                <a:gd fmla="val 50000" name="adj1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20def5b6-4990-47a4-aec8-cd2a952b49a7" id="32" name="连接符: 肘形 31">
              <a:extLst>
                <a:ext uri="{FF2B5EF4-FFF2-40B4-BE49-F238E27FC236}">
                  <a16:creationId id="{0A5315D8-741E-47D4-D30B-78F989B596E7}"/>
                </a:ext>
              </a:extLst>
            </p:cNvPr>
            <p:cNvCxnSpPr>
              <a:cxnSpLocks/>
              <a:stCxn id="6" idx="2"/>
              <a:endCxn id="18" idx="0"/>
            </p:cNvCxnSpPr>
            <p:nvPr/>
          </p:nvCxnSpPr>
          <p:spPr>
            <a:xfrm flipH="1" rot="16200000">
              <a:off x="6367207" y="1572742"/>
              <a:ext cx="870637" cy="1425751"/>
            </a:xfrm>
            <a:prstGeom prst="bentConnector3">
              <a:avLst>
                <a:gd fmla="val 50000" name="adj1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56a567dd-aba2-4fac-a4c9-3af697969103" id="35" name="连接符: 肘形 34">
              <a:extLst>
                <a:ext uri="{FF2B5EF4-FFF2-40B4-BE49-F238E27FC236}">
                  <a16:creationId id="{A4B631CC-1C4A-762B-F922-8F9F04D295E8}"/>
                </a:ext>
              </a:extLst>
            </p:cNvPr>
            <p:cNvCxnSpPr>
              <a:cxnSpLocks/>
              <a:stCxn id="6" idx="2"/>
              <a:endCxn id="22" idx="0"/>
            </p:cNvCxnSpPr>
            <p:nvPr/>
          </p:nvCxnSpPr>
          <p:spPr>
            <a:xfrm flipH="1" rot="16200000">
              <a:off x="7792958" y="146992"/>
              <a:ext cx="870637" cy="4277252"/>
            </a:xfrm>
            <a:prstGeom prst="bentConnector3">
              <a:avLst>
                <a:gd fmla="val 50000" name="adj1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国际立法比较</a:t>
            </a:r>
            <a:endParaRPr dirty="0" lang="en-US"/>
          </a:p>
        </p:txBody>
      </p:sp>
      <p:grpSp>
        <p:nvGrpSpPr>
          <p:cNvPr descr="26281c8c-fde4-4420-8b38-f7b47cdef90b" id="10" name="b200dcb1-0894-4488-b39f-c92d08921c06.source.4.zh-Hans.pptx">
            <a:extLst>
              <a:ext uri="{FF2B5EF4-FFF2-40B4-BE49-F238E27FC236}">
                <a16:creationId id="{9AF9E13B-CD9E-9514-08CB-5E02F1B7FA0D}"/>
              </a:ext>
            </a:extLst>
          </p:cNvPr>
          <p:cNvGrpSpPr/>
          <p:nvPr/>
        </p:nvGrpSpPr>
        <p:grpSpPr>
          <a:xfrm>
            <a:off x="660400" y="1130312"/>
            <a:ext cx="10858500" cy="5105388"/>
            <a:chOff x="660400" y="1130312"/>
            <a:chExt cx="10858500" cy="5105388"/>
          </a:xfrm>
        </p:grpSpPr>
        <p:sp>
          <p:nvSpPr>
            <p:cNvPr descr="ff37b90f-b904-4748-8e66-748e82d21591" id="38" name="Title">
              <a:extLst>
                <a:ext uri="{FF2B5EF4-FFF2-40B4-BE49-F238E27FC236}">
                  <a16:creationId id="{E8262B0A-BCFC-9AB1-E54B-21E46B3819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30312"/>
              <a:ext cx="10858500" cy="618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lIns="91440" rIns="91440" rtlCol="0" tIns="45720" wrap="square"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altLang="en-US" b="1" dirty="0" lang="zh-CN" sz="2400">
                  <a:solidFill>
                    <a:schemeClr val="tx1"/>
                  </a:solidFill>
                </a:rPr>
                <a:t>美欧模式的责任边界差异</a:t>
              </a:r>
              <a:endParaRPr dirty="0" lang="en-US"/>
            </a:p>
          </p:txBody>
        </p:sp>
        <p:cxnSp>
          <p:nvCxnSpPr>
            <p:cNvPr descr="7e349680-60da-416b-bc9d-0ce6285f2802" id="2" name="直接连接符 1">
              <a:extLst>
                <a:ext uri="{FF2B5EF4-FFF2-40B4-BE49-F238E27FC236}">
                  <a16:creationId id="{9D4F2C61-F990-4D7C-6DF3-D68A7258D950}"/>
                </a:ext>
              </a:extLst>
            </p:cNvPr>
            <p:cNvCxnSpPr>
              <a:cxnSpLocks/>
            </p:cNvCxnSpPr>
            <p:nvPr/>
          </p:nvCxnSpPr>
          <p:spPr>
            <a:xfrm>
              <a:off x="6014008" y="1952012"/>
              <a:ext cx="0" cy="428368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descr="a4423212-236e-4b6a-91e0-d929c1669abb" id="26" name="矩形: 圆角 25">
              <a:extLst>
                <a:ext uri="{FF2B5EF4-FFF2-40B4-BE49-F238E27FC236}">
                  <a16:creationId id="{25853A8E-3352-AFAE-F9E0-E5F8263CDAD5}"/>
                </a:ext>
              </a:extLst>
            </p:cNvPr>
            <p:cNvSpPr/>
            <p:nvPr/>
          </p:nvSpPr>
          <p:spPr>
            <a:xfrm>
              <a:off x="5990306" y="5301039"/>
              <a:ext cx="47777" cy="46154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none">
              <a:no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altLang="en-US" lang="zh-CN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descr="b441ad1b-8fe7-444a-a0da-eca51cbf2a50" id="19" name="矩形: 圆角 18">
              <a:extLst>
                <a:ext uri="{FF2B5EF4-FFF2-40B4-BE49-F238E27FC236}">
                  <a16:creationId id="{0629695D-D3BA-5060-35B7-460D1029C99E}"/>
                </a:ext>
              </a:extLst>
            </p:cNvPr>
            <p:cNvSpPr/>
            <p:nvPr/>
          </p:nvSpPr>
          <p:spPr>
            <a:xfrm>
              <a:off x="5990306" y="4446999"/>
              <a:ext cx="47777" cy="46154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none">
              <a:no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altLang="en-US" lang="zh-CN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descr="24e68db7-266d-410d-8125-7aee8cfb66c3" id="12" name="矩形: 圆角 11">
              <a:extLst>
                <a:ext uri="{FF2B5EF4-FFF2-40B4-BE49-F238E27FC236}">
                  <a16:creationId id="{8993A5F5-2493-6395-3129-AB003E9525A8}"/>
                </a:ext>
              </a:extLst>
            </p:cNvPr>
            <p:cNvSpPr/>
            <p:nvPr/>
          </p:nvSpPr>
          <p:spPr>
            <a:xfrm>
              <a:off x="5990306" y="3592960"/>
              <a:ext cx="47777" cy="46154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none">
              <a:no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altLang="en-US" lang="zh-CN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descr="98126d42-5adc-413f-b9fb-5d2846359227" id="5" name="矩形: 圆角 4">
              <a:extLst>
                <a:ext uri="{FF2B5EF4-FFF2-40B4-BE49-F238E27FC236}">
                  <a16:creationId id="{13D29CC1-C187-5D34-353D-8DC28F39E672}"/>
                </a:ext>
              </a:extLst>
            </p:cNvPr>
            <p:cNvSpPr/>
            <p:nvPr/>
          </p:nvSpPr>
          <p:spPr>
            <a:xfrm>
              <a:off x="5990306" y="2738920"/>
              <a:ext cx="47777" cy="46154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none">
              <a:no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altLang="en-US" dirty="0" lang="zh-CN">
                <a:solidFill>
                  <a:srgbClr val="FFFFFF"/>
                </a:solidFill>
                <a:cs typeface="+mn-ea"/>
              </a:endParaRPr>
            </a:p>
          </p:txBody>
        </p:sp>
        <p:grpSp>
          <p:nvGrpSpPr>
            <p:cNvPr descr="4c960608-d2d3-4abc-a2fc-9246f5db751e" id="48" name="组合 47">
              <a:extLst>
                <a:ext uri="{FF2B5EF4-FFF2-40B4-BE49-F238E27FC236}">
                  <a16:creationId id="{74C7B408-CEBB-47AC-F41F-19F66998CA69}"/>
                </a:ext>
              </a:extLst>
            </p:cNvPr>
            <p:cNvGrpSpPr/>
            <p:nvPr/>
          </p:nvGrpSpPr>
          <p:grpSpPr>
            <a:xfrm>
              <a:off x="660400" y="1952013"/>
              <a:ext cx="4968487" cy="1619969"/>
              <a:chOff x="766140" y="1952013"/>
              <a:chExt cx="4754532" cy="1619969"/>
            </a:xfrm>
          </p:grpSpPr>
          <p:sp>
            <p:nvSpPr>
              <p:cNvPr descr="552c6021-6431-4f5c-998f-3a28f3eb343c" id="6" name="ComponentBackground1">
                <a:extLst>
                  <a:ext uri="{FF2B5EF4-FFF2-40B4-BE49-F238E27FC236}">
                    <a16:creationId id="{4AAB400F-D941-6729-C276-60FAB6A28DB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4174" y="1952013"/>
                <a:ext cx="4536498" cy="1619969"/>
              </a:xfrm>
              <a:prstGeom prst="roundRect">
                <a:avLst>
                  <a:gd fmla="val 8395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>
                <a:outerShdw algn="ctr" blurRad="533400" dir="5400000" dist="508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altLang="en-US" dirty="0" lang="zh-CN">
                  <a:sym charset="0" panose="020B0604020202020204" pitchFamily="34" typeface="Arial"/>
                </a:endParaRPr>
              </a:p>
            </p:txBody>
          </p:sp>
          <p:sp>
            <p:nvSpPr>
              <p:cNvPr descr="14b00c54-e280-4305-87b7-004993a8dddf" id="7" name="Bullet1">
                <a:extLst>
                  <a:ext uri="{FF2B5EF4-FFF2-40B4-BE49-F238E27FC236}">
                    <a16:creationId id="{F94A1570-7EBC-28EB-2CD8-B4E5A70B738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20787" y="2056496"/>
                <a:ext cx="4072149" cy="482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altLang="en-US" b="1" dirty="0" lang="zh-CN"/>
                  <a:t>美国DMCA法案确立原始框架</a:t>
                </a:r>
                <a:endParaRPr dirty="0" lang="en-US"/>
              </a:p>
            </p:txBody>
          </p:sp>
          <p:sp>
            <p:nvSpPr>
              <p:cNvPr descr="32dec8a3-48a9-464d-bdc9-82d41f0b91e8" id="8" name="Number1">
                <a:extLst>
                  <a:ext uri="{FF2B5EF4-FFF2-40B4-BE49-F238E27FC236}">
                    <a16:creationId id="{206EA2C3-6B8B-1F3F-FC7A-182BA58162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6140" y="2539549"/>
                <a:ext cx="420287" cy="4392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altLang="zh-CN" dirty="0" lang="en-US" sz="1600">
                    <a:solidFill>
                      <a:srgbClr val="FFFFFF"/>
                    </a:solidFill>
                    <a:cs typeface="+mn-ea"/>
                    <a:sym charset="0" panose="020B0604020202020204" pitchFamily="34" typeface="Arial"/>
                  </a:rPr>
                  <a:t>1</a:t>
                </a:r>
              </a:p>
            </p:txBody>
          </p:sp>
          <p:sp>
            <p:nvSpPr>
              <p:cNvPr descr="8b29b342-c464-46aa-8c58-6288fa9b0854" id="9" name="Text1">
                <a:extLst>
                  <a:ext uri="{FF2B5EF4-FFF2-40B4-BE49-F238E27FC236}">
                    <a16:creationId id="{201B3588-B28F-6CAB-ADD6-FFAA1AB04E1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20787" y="2640951"/>
                <a:ext cx="4072149" cy="8540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err="1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以“通知-移除”为核心，为ISP提供版权侵权责任豁免，强调产业创新与责任平衡</a:t>
                </a:r>
                <a:endParaRPr dirty="0" lang="en-US"/>
              </a:p>
            </p:txBody>
          </p:sp>
        </p:grpSp>
        <p:grpSp>
          <p:nvGrpSpPr>
            <p:cNvPr descr="79b02fa1-2283-42cf-bb11-297c9313fce2" id="49" name="组合 48">
              <a:extLst>
                <a:ext uri="{FF2B5EF4-FFF2-40B4-BE49-F238E27FC236}">
                  <a16:creationId id="{5E911913-2421-2DF6-3C8E-B516BF436091}"/>
                </a:ext>
              </a:extLst>
            </p:cNvPr>
            <p:cNvGrpSpPr/>
            <p:nvPr/>
          </p:nvGrpSpPr>
          <p:grpSpPr>
            <a:xfrm>
              <a:off x="6385894" y="2806054"/>
              <a:ext cx="5133006" cy="1619967"/>
              <a:chOff x="6245080" y="2806054"/>
              <a:chExt cx="4911966" cy="1619967"/>
            </a:xfrm>
          </p:grpSpPr>
          <p:sp>
            <p:nvSpPr>
              <p:cNvPr descr="255458a4-b001-4961-915f-40eea554c71b" id="13" name="ComponentBackground2">
                <a:extLst>
                  <a:ext uri="{FF2B5EF4-FFF2-40B4-BE49-F238E27FC236}">
                    <a16:creationId id="{5ECBA0F5-6A4C-C552-C455-88A9A5BCD88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245080" y="2806054"/>
                <a:ext cx="4709634" cy="1619967"/>
              </a:xfrm>
              <a:prstGeom prst="roundRect">
                <a:avLst>
                  <a:gd fmla="val 6477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>
                <a:outerShdw algn="ctr" blurRad="533400" dir="5400000" dist="508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altLang="en-US" lang="zh-CN">
                  <a:sym charset="0" panose="020B0604020202020204" pitchFamily="34" typeface="Arial"/>
                </a:endParaRPr>
              </a:p>
            </p:txBody>
          </p:sp>
          <p:sp>
            <p:nvSpPr>
              <p:cNvPr descr="682e91ee-e4be-42fb-9a24-97b3cc58d59a" id="14" name="Bullet2">
                <a:extLst>
                  <a:ext uri="{FF2B5EF4-FFF2-40B4-BE49-F238E27FC236}">
                    <a16:creationId id="{4A92BC00-DADE-198A-A362-ED6EB1D6506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576496" y="2910539"/>
                <a:ext cx="4072149" cy="482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altLang="en-US" b="1" dirty="0" lang="zh-CN"/>
                  <a:t>欧盟《单一数字市场版权指令》</a:t>
                </a:r>
                <a:endParaRPr dirty="0" lang="en-US"/>
              </a:p>
            </p:txBody>
          </p:sp>
          <p:sp>
            <p:nvSpPr>
              <p:cNvPr descr="2946ebea-a7ee-445b-ae97-d3201074c091" id="15" name="Number2">
                <a:extLst>
                  <a:ext uri="{FF2B5EF4-FFF2-40B4-BE49-F238E27FC236}">
                    <a16:creationId id="{16BFAD5D-B439-BE22-D5F4-1A1DC24342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736759" y="3393591"/>
                <a:ext cx="420287" cy="4392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altLang="zh-CN" dirty="0" lang="en-US" sz="1600">
                    <a:solidFill>
                      <a:srgbClr val="FFFFFF"/>
                    </a:solidFill>
                    <a:cs typeface="+mn-ea"/>
                    <a:sym charset="0" panose="020B0604020202020204" pitchFamily="34" typeface="Arial"/>
                  </a:rPr>
                  <a:t>2</a:t>
                </a:r>
              </a:p>
            </p:txBody>
          </p:sp>
          <p:sp>
            <p:nvSpPr>
              <p:cNvPr descr="30485007-e5b6-4912-9cff-65cc5ed5a07d" id="16" name="Text2">
                <a:extLst>
                  <a:ext uri="{FF2B5EF4-FFF2-40B4-BE49-F238E27FC236}">
                    <a16:creationId id="{EA00A74C-EF7A-1F53-4452-FE115C97429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576496" y="3494991"/>
                <a:ext cx="4072149" cy="8540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err="1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要求平台承担“版权过滤义务”和“许可寻求义务”，显著提高事前审查责任</a:t>
                </a:r>
                <a:endParaRPr dirty="0" lang="en-US"/>
              </a:p>
            </p:txBody>
          </p:sp>
        </p:grpSp>
        <p:grpSp>
          <p:nvGrpSpPr>
            <p:cNvPr descr="4e3d3d18-0dc8-46e8-b7b8-eaa4c6f378d7" id="50" name="组合 49">
              <a:extLst>
                <a:ext uri="{FF2B5EF4-FFF2-40B4-BE49-F238E27FC236}">
                  <a16:creationId id="{7E534796-79E0-BE2B-4447-ADCEEE92D7D3}"/>
                </a:ext>
              </a:extLst>
            </p:cNvPr>
            <p:cNvGrpSpPr/>
            <p:nvPr/>
          </p:nvGrpSpPr>
          <p:grpSpPr>
            <a:xfrm>
              <a:off x="660400" y="3660092"/>
              <a:ext cx="4968487" cy="1619969"/>
              <a:chOff x="766140" y="3660092"/>
              <a:chExt cx="4754532" cy="1619969"/>
            </a:xfrm>
          </p:grpSpPr>
          <p:sp>
            <p:nvSpPr>
              <p:cNvPr descr="10e06082-15e6-4d71-9954-813b1c28dbe0" id="20" name="ComponentBackground3">
                <a:extLst>
                  <a:ext uri="{FF2B5EF4-FFF2-40B4-BE49-F238E27FC236}">
                    <a16:creationId id="{CEEAB392-C0EA-894C-437D-BE3527C9EE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4174" y="3660092"/>
                <a:ext cx="4536498" cy="1619969"/>
              </a:xfrm>
              <a:prstGeom prst="roundRect">
                <a:avLst>
                  <a:gd fmla="val 6477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>
                <a:outerShdw algn="ctr" blurRad="533400" dir="5400000" dist="508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altLang="en-US" lang="zh-CN">
                  <a:sym charset="0" panose="020B0604020202020204" pitchFamily="34" typeface="Arial"/>
                </a:endParaRPr>
              </a:p>
            </p:txBody>
          </p:sp>
          <p:sp>
            <p:nvSpPr>
              <p:cNvPr descr="85fe584a-d159-4d1d-ae37-d25cbc6f911b" id="21" name="Bullet3">
                <a:extLst>
                  <a:ext uri="{FF2B5EF4-FFF2-40B4-BE49-F238E27FC236}">
                    <a16:creationId id="{3A3A42BF-E8D2-DF17-3119-A9D164E5758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20787" y="3764576"/>
                <a:ext cx="4072149" cy="482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altLang="en-US" b="1" dirty="0" lang="zh-CN"/>
                  <a:t>立法理念对比鲜明</a:t>
                </a:r>
                <a:endParaRPr dirty="0" lang="en-US"/>
              </a:p>
            </p:txBody>
          </p:sp>
          <p:sp>
            <p:nvSpPr>
              <p:cNvPr descr="9bbcd5b5-94aa-4e85-9bd8-c7b2177d6c55" id="22" name="Number3">
                <a:extLst>
                  <a:ext uri="{FF2B5EF4-FFF2-40B4-BE49-F238E27FC236}">
                    <a16:creationId id="{D0464B80-5CA8-8033-A87D-9E972710B3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6140" y="4247628"/>
                <a:ext cx="420287" cy="4392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altLang="zh-CN" dirty="0" lang="en-US" sz="1600">
                    <a:solidFill>
                      <a:srgbClr val="FFFFFF"/>
                    </a:solidFill>
                    <a:cs typeface="+mn-ea"/>
                    <a:sym charset="0" panose="020B0604020202020204" pitchFamily="34" typeface="Arial"/>
                  </a:rPr>
                  <a:t>3</a:t>
                </a:r>
              </a:p>
            </p:txBody>
          </p:sp>
          <p:sp>
            <p:nvSpPr>
              <p:cNvPr descr="898408e0-5275-4416-8151-2f3b23a70164" id="23" name="Text3">
                <a:extLst>
                  <a:ext uri="{FF2B5EF4-FFF2-40B4-BE49-F238E27FC236}">
                    <a16:creationId id="{B5C76457-96FF-BE9C-9E25-756BA132F31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20787" y="4349030"/>
                <a:ext cx="4072149" cy="8540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err="1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美国倾向包容性保护，鼓励技术发展；欧盟强调权利人优先，强化平台主动作为</a:t>
                </a:r>
                <a:endParaRPr dirty="0" lang="en-US"/>
              </a:p>
            </p:txBody>
          </p:sp>
        </p:grpSp>
        <p:grpSp>
          <p:nvGrpSpPr>
            <p:cNvPr descr="30261c29-0b15-42d8-979b-4f5fbec33798" id="51" name="组合 50">
              <a:extLst>
                <a:ext uri="{FF2B5EF4-FFF2-40B4-BE49-F238E27FC236}">
                  <a16:creationId id="{2202930E-BF30-9F4F-AA65-00394ACF5FD7}"/>
                </a:ext>
              </a:extLst>
            </p:cNvPr>
            <p:cNvGrpSpPr/>
            <p:nvPr/>
          </p:nvGrpSpPr>
          <p:grpSpPr>
            <a:xfrm>
              <a:off x="6385894" y="4514133"/>
              <a:ext cx="5133006" cy="1619967"/>
              <a:chOff x="6245080" y="4514133"/>
              <a:chExt cx="4911966" cy="1619967"/>
            </a:xfrm>
          </p:grpSpPr>
          <p:sp>
            <p:nvSpPr>
              <p:cNvPr descr="b14f38b2-937a-4d72-b448-1fe4703abe5e" id="27" name="ComponentBackground4">
                <a:extLst>
                  <a:ext uri="{FF2B5EF4-FFF2-40B4-BE49-F238E27FC236}">
                    <a16:creationId id="{A45F4F1C-28E4-5D5D-1F4A-093C2DE33F0E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245080" y="4514133"/>
                <a:ext cx="4709634" cy="1619967"/>
              </a:xfrm>
              <a:prstGeom prst="roundRect">
                <a:avLst>
                  <a:gd fmla="val 5693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>
                <a:outerShdw algn="ctr" blurRad="533400" dir="5400000" dist="508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altLang="en-US" dirty="0" lang="zh-CN">
                  <a:sym charset="0" panose="020B0604020202020204" pitchFamily="34" typeface="Arial"/>
                </a:endParaRPr>
              </a:p>
            </p:txBody>
          </p:sp>
          <p:sp>
            <p:nvSpPr>
              <p:cNvPr descr="4972e8f6-b760-47c5-92dd-7034e61c2129" id="28" name="Bullet4">
                <a:extLst>
                  <a:ext uri="{FF2B5EF4-FFF2-40B4-BE49-F238E27FC236}">
                    <a16:creationId id="{9DB658E2-FCAA-24F5-D635-FA852D967A3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576496" y="4618618"/>
                <a:ext cx="4072149" cy="482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altLang="en-US" b="1" dirty="0" lang="zh-CN"/>
                  <a:t>国际趋势呈现分化</a:t>
                </a:r>
                <a:endParaRPr dirty="0" lang="en-US"/>
              </a:p>
            </p:txBody>
          </p:sp>
          <p:sp>
            <p:nvSpPr>
              <p:cNvPr descr="bda31dd3-6044-4c3a-b641-5999875d190b" id="29" name="Number4">
                <a:extLst>
                  <a:ext uri="{FF2B5EF4-FFF2-40B4-BE49-F238E27FC236}">
                    <a16:creationId id="{66A61700-1442-8E70-1456-F93D93DF16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736759" y="5101670"/>
                <a:ext cx="420287" cy="4392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altLang="zh-CN" dirty="0" lang="en-US" sz="1600">
                    <a:solidFill>
                      <a:srgbClr val="FFFFFF"/>
                    </a:solidFill>
                    <a:cs typeface="+mn-ea"/>
                    <a:sym charset="0" panose="020B0604020202020204" pitchFamily="34" typeface="Arial"/>
                  </a:rPr>
                  <a:t>4</a:t>
                </a:r>
              </a:p>
            </p:txBody>
          </p:sp>
          <p:sp>
            <p:nvSpPr>
              <p:cNvPr descr="c44c7dec-9d3f-4d08-934f-1424e4f0144c" id="30" name="Text4">
                <a:extLst>
                  <a:ext uri="{FF2B5EF4-FFF2-40B4-BE49-F238E27FC236}">
                    <a16:creationId id="{27AF2527-C571-9BA3-7833-CDC6F28D938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576496" y="5203070"/>
                <a:ext cx="4072149" cy="8540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err="1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多国借鉴DMCA，但欧盟模式代表更严苛监管方向，推动全球平台责任升级</a:t>
                </a:r>
                <a:endParaRPr dirty="0" lang="en-US"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免责条件解析</a:t>
            </a:r>
            <a:endParaRPr dirty="0" lang="en-US"/>
          </a:p>
        </p:txBody>
      </p:sp>
      <p:grpSp>
        <p:nvGrpSpPr>
          <p:cNvPr descr="bcaf868f-d4f3-495f-8737-05313ae65610" id="24" name="720d478c-9421-4f0f-9cb9-00c560b38fe9.source.4.zh-Hans.pptx">
            <a:extLst>
              <a:ext uri="{FF2B5EF4-FFF2-40B4-BE49-F238E27FC236}">
                <a16:creationId id="{A784F41B-2A01-88F1-134F-177DC6A51FE2}"/>
              </a:ext>
            </a:extLst>
          </p:cNvPr>
          <p:cNvGrpSpPr/>
          <p:nvPr/>
        </p:nvGrpSpPr>
        <p:grpSpPr>
          <a:xfrm>
            <a:off x="660400" y="1130301"/>
            <a:ext cx="10864850" cy="5003799"/>
            <a:chOff x="660400" y="1130301"/>
            <a:chExt cx="10864850" cy="5003799"/>
          </a:xfrm>
        </p:grpSpPr>
        <p:sp>
          <p:nvSpPr>
            <p:cNvPr descr="b281ac56-607d-484f-a021-eb87d117a4bb" id="49" name="Title">
              <a:extLst>
                <a:ext uri="{FF2B5EF4-FFF2-40B4-BE49-F238E27FC236}">
                  <a16:creationId id="{62E43763-3750-0067-B75B-ADC319D34D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6750" y="1130301"/>
              <a:ext cx="10858500" cy="546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lIns="91440" rIns="91440" rtlCol="0" tIns="45720" wrap="square">
              <a:normAutofit/>
            </a:bodyPr>
            <a:lstStyle/>
            <a:p>
              <a:pPr>
                <a:buSzPct val="25000"/>
              </a:pPr>
              <a:r>
                <a:rPr altLang="en-US" b="1" dirty="0" lang="zh-CN" sz="2400">
                  <a:solidFill>
                    <a:schemeClr val="tx1"/>
                  </a:solidFill>
                  <a:cs typeface="+mn-ea"/>
                  <a:sym typeface="+mn-lt"/>
                </a:rPr>
                <a:t>驶入“避风港”的法定门槛</a:t>
              </a:r>
              <a:endParaRPr dirty="0" lang="en-US"/>
            </a:p>
          </p:txBody>
        </p:sp>
        <p:grpSp>
          <p:nvGrpSpPr>
            <p:cNvPr descr="e827f9cc-f6e7-44e4-b3a9-6b2ae3d19329" id="12" name="组合 11">
              <a:extLst>
                <a:ext uri="{FF2B5EF4-FFF2-40B4-BE49-F238E27FC236}">
                  <a16:creationId id="{9AF73126-9FFE-F662-93BD-B0CA276A8DB6}"/>
                </a:ext>
              </a:extLst>
            </p:cNvPr>
            <p:cNvGrpSpPr/>
            <p:nvPr/>
          </p:nvGrpSpPr>
          <p:grpSpPr>
            <a:xfrm>
              <a:off x="660400" y="1715072"/>
              <a:ext cx="5381905" cy="2175721"/>
              <a:chOff x="1143981" y="1715072"/>
              <a:chExt cx="5381905" cy="2175721"/>
            </a:xfrm>
          </p:grpSpPr>
          <p:grpSp>
            <p:nvGrpSpPr>
              <p:cNvPr descr="15076b71-e016-41e0-a064-0e718ad8f266" id="10" name="组合 9">
                <a:extLst>
                  <a:ext uri="{FF2B5EF4-FFF2-40B4-BE49-F238E27FC236}">
                    <a16:creationId id="{6EBB8B26-2133-0445-33B5-740630191BFB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6b83bb35-3d40-4dea-ba10-369f98739851" id="7" name="ComponentBackground1">
                  <a:extLst>
                    <a:ext uri="{FF2B5EF4-FFF2-40B4-BE49-F238E27FC236}">
                      <a16:creationId id="{F268D195-2263-0573-927C-0B70D973F6B8}"/>
                    </a:ext>
                  </a:extLst>
                </p:cNvPr>
                <p:cNvSpPr/>
                <p:nvPr/>
              </p:nvSpPr>
              <p:spPr>
                <a:xfrm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0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altLang="en-US" b="1" lang="zh-CN" sz="2400">
                    <a:solidFill>
                      <a:schemeClr val="tx1"/>
                    </a:solidFill>
                    <a:sym typeface="+mn-lt"/>
                  </a:endParaRPr>
                </a:p>
              </p:txBody>
            </p:sp>
            <p:sp>
              <p:nvSpPr>
                <p:cNvPr descr="201b4eb2-7dfa-4efb-8e06-dec2f2f33648" id="8" name="Text1">
                  <a:extLst>
                    <a:ext uri="{FF2B5EF4-FFF2-40B4-BE49-F238E27FC236}">
                      <a16:creationId id="{C03A9A82-DDA3-FC0E-CFFE-67004C1A654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0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altLang="en-US" dirty="0" i="0" lang="zh-CN" sz="1200">
                      <a:solidFill>
                        <a:schemeClr val="tx1"/>
                      </a:solidFill>
                      <a:effectLst/>
                      <a:cs typeface="+mn-ea"/>
                      <a:sym typeface="+mn-lt"/>
                    </a:rPr>
                    <a:t>仅提供存储、搜索、链接等中立服务，不参与内容制作或编辑</a:t>
                  </a:r>
                  <a:endParaRPr dirty="0" lang="en-US"/>
                </a:p>
              </p:txBody>
            </p:sp>
            <p:sp>
              <p:nvSpPr>
                <p:cNvPr descr="98242a11-1f36-47b1-99fc-3b32ecd7331f" id="9" name="Bullet1">
                  <a:extLst>
                    <a:ext uri="{FF2B5EF4-FFF2-40B4-BE49-F238E27FC236}">
                      <a16:creationId id="{A2EA0832-09FA-5E91-21D1-AA48C6373B3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lIns="91440" rIns="91440" rtlCol="0" tIns="45720"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altLang="en-US" b="1" dirty="0" kumimoji="1" lang="zh-CN">
                      <a:solidFill>
                        <a:schemeClr val="tx1"/>
                      </a:solidFill>
                      <a:cs typeface="+mn-ea"/>
                      <a:sym typeface="+mn-lt"/>
                    </a:rPr>
                    <a:t>服务性质为单纯技术服务</a:t>
                  </a:r>
                  <a:endParaRPr dirty="0" lang="en-US"/>
                </a:p>
              </p:txBody>
            </p:sp>
          </p:grpSp>
          <p:sp>
            <p:nvSpPr>
              <p:cNvPr descr="73eb28ed-ca09-4bee-b7df-a40245065737" id="11" name="Number1">
                <a:extLst>
                  <a:ext uri="{FF2B5EF4-FFF2-40B4-BE49-F238E27FC236}">
                    <a16:creationId id="{E8EDFF1D-9129-EA36-9D01-1408F9E88D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dirty="0" lang="en-US" sz="1600">
                    <a:solidFill>
                      <a:srgbClr val="FFFFFF"/>
                    </a:solidFill>
                    <a:cs typeface="+mn-ea"/>
                    <a:sym typeface="+mn-lt"/>
                  </a:rPr>
                  <a:t>1</a:t>
                </a:r>
                <a:endParaRPr altLang="en-US" dirty="0" lang="zh-CN" sz="160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descr="39b27bd3-d8e5-4185-8a22-431296e32c46" id="13" name="组合 12">
              <a:extLst>
                <a:ext uri="{FF2B5EF4-FFF2-40B4-BE49-F238E27FC236}">
                  <a16:creationId id="{F9F07FE4-7615-8A32-6554-C563051A75AC}"/>
                </a:ext>
              </a:extLst>
            </p:cNvPr>
            <p:cNvGrpSpPr/>
            <p:nvPr/>
          </p:nvGrpSpPr>
          <p:grpSpPr>
            <a:xfrm>
              <a:off x="660400" y="3958379"/>
              <a:ext cx="5381905" cy="2175721"/>
              <a:chOff x="1143981" y="1715072"/>
              <a:chExt cx="5381905" cy="2175721"/>
            </a:xfrm>
          </p:grpSpPr>
          <p:grpSp>
            <p:nvGrpSpPr>
              <p:cNvPr descr="7a7825d8-3b92-4cf4-9b20-d941a7a02342" id="14" name="组合 13">
                <a:extLst>
                  <a:ext uri="{FF2B5EF4-FFF2-40B4-BE49-F238E27FC236}">
                    <a16:creationId id="{CA3E0EC1-818F-0D85-7059-BE90F8B2B478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c34e1085-e2e6-4ff7-9aac-bf0174922524" id="16" name="ComponentBackground2">
                  <a:extLst>
                    <a:ext uri="{FF2B5EF4-FFF2-40B4-BE49-F238E27FC236}">
                      <a16:creationId id="{B1FAA50F-F273-C97A-3074-52FB62CE859C}"/>
                    </a:ext>
                  </a:extLst>
                </p:cNvPr>
                <p:cNvSpPr/>
                <p:nvPr/>
              </p:nvSpPr>
              <p:spPr>
                <a:xfrm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0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altLang="en-US" b="1" lang="zh-CN" sz="2400">
                    <a:solidFill>
                      <a:schemeClr val="tx1"/>
                    </a:solidFill>
                    <a:sym typeface="+mn-lt"/>
                  </a:endParaRPr>
                </a:p>
              </p:txBody>
            </p:sp>
            <p:sp>
              <p:nvSpPr>
                <p:cNvPr descr="00a99a56-e074-46b7-b7a6-fdbd721716d7" id="17" name="Text2">
                  <a:extLst>
                    <a:ext uri="{FF2B5EF4-FFF2-40B4-BE49-F238E27FC236}">
                      <a16:creationId id="{0FE2DD8D-AA96-9383-AB8C-64D79C31E91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0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altLang="en-US" dirty="0" i="0" lang="zh-CN" sz="1200">
                      <a:solidFill>
                        <a:schemeClr val="tx1"/>
                      </a:solidFill>
                      <a:effectLst/>
                      <a:cs typeface="+mn-ea"/>
                      <a:sym typeface="+mn-lt"/>
                    </a:rPr>
                    <a:t>不知道且无合理理由应知侵权内容存在，否则触发“红旗标准”</a:t>
                  </a:r>
                  <a:endParaRPr dirty="0" lang="en-US"/>
                </a:p>
              </p:txBody>
            </p:sp>
            <p:sp>
              <p:nvSpPr>
                <p:cNvPr descr="c161ab1c-1854-4560-8e5c-49c7f24d5873" id="18" name="Bullet2">
                  <a:extLst>
                    <a:ext uri="{FF2B5EF4-FFF2-40B4-BE49-F238E27FC236}">
                      <a16:creationId id="{B6EDC7BE-AD9A-F751-714C-D6E1F1E8FA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lIns="91440" rIns="91440" rtlCol="0" tIns="45720"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altLang="en-US" b="1" dirty="0" kumimoji="1" lang="zh-CN">
                      <a:solidFill>
                        <a:schemeClr val="tx1"/>
                      </a:solidFill>
                      <a:cs typeface="+mn-ea"/>
                      <a:sym typeface="+mn-lt"/>
                    </a:rPr>
                    <a:t>无主观过错（不知情）</a:t>
                  </a:r>
                  <a:endParaRPr dirty="0" lang="en-US"/>
                </a:p>
              </p:txBody>
            </p:sp>
          </p:grpSp>
          <p:sp>
            <p:nvSpPr>
              <p:cNvPr descr="ec5befbd-b030-48f7-9ed7-d508cf170e59" id="15" name="Number2">
                <a:extLst>
                  <a:ext uri="{FF2B5EF4-FFF2-40B4-BE49-F238E27FC236}">
                    <a16:creationId id="{086F784D-D65C-8303-A277-4678B6BD77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dirty="0" lang="en-US" sz="1600">
                    <a:solidFill>
                      <a:srgbClr val="FFFFFF"/>
                    </a:solidFill>
                    <a:cs typeface="+mn-ea"/>
                    <a:sym typeface="+mn-lt"/>
                  </a:rPr>
                  <a:t>2</a:t>
                </a:r>
                <a:endParaRPr altLang="en-US" dirty="0" lang="zh-CN" sz="160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descr="740b7251-7773-458b-a8ec-b23b8bd34e2f" id="33" name="组合 32">
              <a:extLst>
                <a:ext uri="{FF2B5EF4-FFF2-40B4-BE49-F238E27FC236}">
                  <a16:creationId id="{AD526F1F-2047-8FA0-46D9-3355EC10E069}"/>
                </a:ext>
              </a:extLst>
            </p:cNvPr>
            <p:cNvGrpSpPr/>
            <p:nvPr/>
          </p:nvGrpSpPr>
          <p:grpSpPr>
            <a:xfrm>
              <a:off x="6136995" y="1715072"/>
              <a:ext cx="5381905" cy="2175721"/>
              <a:chOff x="1143981" y="1715072"/>
              <a:chExt cx="5381905" cy="2175721"/>
            </a:xfrm>
          </p:grpSpPr>
          <p:grpSp>
            <p:nvGrpSpPr>
              <p:cNvPr descr="8af775ff-4ab4-4d8b-b200-7394d285a81a" id="34" name="组合 33">
                <a:extLst>
                  <a:ext uri="{FF2B5EF4-FFF2-40B4-BE49-F238E27FC236}">
                    <a16:creationId id="{3F37601F-E80A-380C-35B0-772340383CE4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1b24d2d8-311f-4e53-a71f-fae5481cc3c0" id="36" name="ComponentBackground3">
                  <a:extLst>
                    <a:ext uri="{FF2B5EF4-FFF2-40B4-BE49-F238E27FC236}">
                      <a16:creationId id="{66908969-4647-CCCC-F4ED-AC8E574305C3}"/>
                    </a:ext>
                  </a:extLst>
                </p:cNvPr>
                <p:cNvSpPr/>
                <p:nvPr/>
              </p:nvSpPr>
              <p:spPr>
                <a:xfrm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0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altLang="en-US" b="1" lang="zh-CN" sz="2400">
                    <a:solidFill>
                      <a:schemeClr val="tx1"/>
                    </a:solidFill>
                    <a:sym typeface="+mn-lt"/>
                  </a:endParaRPr>
                </a:p>
              </p:txBody>
            </p:sp>
            <p:sp>
              <p:nvSpPr>
                <p:cNvPr descr="e9d1a4da-4320-430a-8d70-63117c67eb79" id="37" name="Text3">
                  <a:extLst>
                    <a:ext uri="{FF2B5EF4-FFF2-40B4-BE49-F238E27FC236}">
                      <a16:creationId id="{92B26B71-9692-C416-33C4-08ADE094EF5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0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altLang="en-US" dirty="0" i="0" lang="zh-CN" sz="1200">
                      <a:solidFill>
                        <a:schemeClr val="tx1"/>
                      </a:solidFill>
                      <a:effectLst/>
                      <a:cs typeface="+mn-ea"/>
                      <a:sym typeface="+mn-lt"/>
                    </a:rPr>
                    <a:t>若从侵权内容中直接获利（如广告分成），则注意义务提高，难以免责</a:t>
                  </a:r>
                  <a:endParaRPr dirty="0" lang="en-US"/>
                </a:p>
              </p:txBody>
            </p:sp>
            <p:sp>
              <p:nvSpPr>
                <p:cNvPr descr="018ed229-df48-4332-8b83-c6188e6485c8" id="38" name="Bullet3">
                  <a:extLst>
                    <a:ext uri="{FF2B5EF4-FFF2-40B4-BE49-F238E27FC236}">
                      <a16:creationId id="{55F06C09-03E3-66FC-2A3C-C735F064743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lIns="91440" rIns="91440" rtlCol="0" tIns="45720"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altLang="en-US" b="1" dirty="0" kumimoji="1" lang="zh-CN">
                      <a:solidFill>
                        <a:schemeClr val="tx1"/>
                      </a:solidFill>
                      <a:cs typeface="+mn-ea"/>
                      <a:sym typeface="+mn-lt"/>
                    </a:rPr>
                    <a:t>未直接获取经济利益</a:t>
                  </a:r>
                  <a:endParaRPr dirty="0" lang="en-US"/>
                </a:p>
              </p:txBody>
            </p:sp>
          </p:grpSp>
          <p:sp>
            <p:nvSpPr>
              <p:cNvPr descr="e019effc-f745-470b-b4d0-26a757ebc63c" id="35" name="Number3">
                <a:extLst>
                  <a:ext uri="{FF2B5EF4-FFF2-40B4-BE49-F238E27FC236}">
                    <a16:creationId id="{D2C66691-2210-7A1D-5B90-476F97C2D6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dirty="0" lang="en-US" sz="1600">
                    <a:solidFill>
                      <a:srgbClr val="FFFFFF"/>
                    </a:solidFill>
                    <a:cs typeface="+mn-ea"/>
                    <a:sym typeface="+mn-lt"/>
                  </a:rPr>
                  <a:t>3</a:t>
                </a:r>
                <a:endParaRPr altLang="en-US" dirty="0" lang="zh-CN" sz="160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descr="5182a1bb-a90c-41ab-99d6-aac0669956c7" id="39" name="组合 38">
              <a:extLst>
                <a:ext uri="{FF2B5EF4-FFF2-40B4-BE49-F238E27FC236}">
                  <a16:creationId id="{AB0FB4A7-C7DE-E585-4761-F7D898D3A010}"/>
                </a:ext>
              </a:extLst>
            </p:cNvPr>
            <p:cNvGrpSpPr/>
            <p:nvPr/>
          </p:nvGrpSpPr>
          <p:grpSpPr>
            <a:xfrm>
              <a:off x="6136995" y="3958379"/>
              <a:ext cx="5381905" cy="2175721"/>
              <a:chOff x="1143981" y="1715072"/>
              <a:chExt cx="5381905" cy="2175721"/>
            </a:xfrm>
          </p:grpSpPr>
          <p:grpSp>
            <p:nvGrpSpPr>
              <p:cNvPr descr="1ba279c8-4031-46de-90d3-c6be882cea8d" id="40" name="组合 39">
                <a:extLst>
                  <a:ext uri="{FF2B5EF4-FFF2-40B4-BE49-F238E27FC236}">
                    <a16:creationId id="{F9DDF53B-F8FE-74F2-9F1E-B5A63D58BFD0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c76046db-d72d-4da6-b3ef-0e746837fc6d" id="42" name="ComponentBackground4">
                  <a:extLst>
                    <a:ext uri="{FF2B5EF4-FFF2-40B4-BE49-F238E27FC236}">
                      <a16:creationId id="{27EF7237-6D94-24A1-C578-AB12E57FD07D}"/>
                    </a:ext>
                  </a:extLst>
                </p:cNvPr>
                <p:cNvSpPr/>
                <p:nvPr/>
              </p:nvSpPr>
              <p:spPr>
                <a:xfrm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0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altLang="en-US" b="1" lang="zh-CN" sz="2400">
                    <a:solidFill>
                      <a:schemeClr val="tx1"/>
                    </a:solidFill>
                    <a:sym typeface="+mn-lt"/>
                  </a:endParaRPr>
                </a:p>
              </p:txBody>
            </p:sp>
            <p:sp>
              <p:nvSpPr>
                <p:cNvPr descr="060a5c50-9498-42c3-9d49-e634adc88f5a" id="43" name="Text4">
                  <a:extLst>
                    <a:ext uri="{FF2B5EF4-FFF2-40B4-BE49-F238E27FC236}">
                      <a16:creationId id="{C9948F1C-0076-4FFD-30EC-8AA3517F57F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0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altLang="en-US" dirty="0" i="0" lang="zh-CN" sz="1200">
                      <a:solidFill>
                        <a:schemeClr val="tx1"/>
                      </a:solidFill>
                      <a:effectLst/>
                      <a:cs typeface="+mn-ea"/>
                      <a:sym typeface="+mn-lt"/>
                    </a:rPr>
                    <a:t>接到有效通知后须及时采取删除、屏蔽、断开链接等必要措施</a:t>
                  </a:r>
                  <a:endParaRPr dirty="0" lang="en-US"/>
                </a:p>
              </p:txBody>
            </p:sp>
            <p:sp>
              <p:nvSpPr>
                <p:cNvPr descr="633bae8c-099e-4d0e-9c8f-6b53d837867e" id="44" name="Bullet4">
                  <a:extLst>
                    <a:ext uri="{FF2B5EF4-FFF2-40B4-BE49-F238E27FC236}">
                      <a16:creationId id="{1D37FA88-B60A-4D03-B083-7B5A0894E35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lIns="91440" rIns="91440" rtlCol="0" tIns="45720"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altLang="en-US" b="1" dirty="0" kumimoji="1" lang="zh-CN">
                      <a:solidFill>
                        <a:schemeClr val="tx1"/>
                      </a:solidFill>
                      <a:cs typeface="+mn-ea"/>
                      <a:sym typeface="+mn-lt"/>
                    </a:rPr>
                    <a:t>及时履行删除义务</a:t>
                  </a:r>
                  <a:endParaRPr dirty="0" lang="en-US"/>
                </a:p>
              </p:txBody>
            </p:sp>
          </p:grpSp>
          <p:sp>
            <p:nvSpPr>
              <p:cNvPr descr="316b6603-9f82-4190-8c3d-3bad9ff82491" id="41" name="Number4">
                <a:extLst>
                  <a:ext uri="{FF2B5EF4-FFF2-40B4-BE49-F238E27FC236}">
                    <a16:creationId id="{359130C6-7CF9-986F-8218-CEDC7167AFA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dirty="0" lang="en-US" sz="1600">
                    <a:solidFill>
                      <a:srgbClr val="FFFFFF"/>
                    </a:solidFill>
                    <a:cs typeface="+mn-ea"/>
                    <a:sym typeface="+mn-lt"/>
                  </a:rPr>
                  <a:t>4</a:t>
                </a:r>
                <a:endParaRPr altLang="en-US" dirty="0" lang="zh-CN" sz="160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e432bed3-95bb-4ff9-a468-9817f6fd6cdb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司法实践</a:t>
            </a:r>
            <a:endParaRPr dirty="0" lang="en-US"/>
          </a:p>
        </p:txBody>
      </p:sp>
      <p:sp>
        <p:nvSpPr>
          <p:cNvPr descr="30ecfc98-2258-43d3-8443-dd7f3d2bb5c9" id="3" name=""/>
          <p:cNvSpPr>
            <a:spLocks noGrp="1"/>
          </p:cNvSpPr>
          <p:nvPr>
            <p:ph hasCustomPrompt="1" idx="1" type="body"/>
          </p:nvPr>
        </p:nvSpPr>
        <p:spPr/>
        <p:txBody>
          <a:bodyPr/>
          <a:lstStyle/>
          <a:p>
            <a:pPr/>
            <a:r>
              <a:rPr altLang="en-US" dirty="0" lang="zh-CN"/>
              <a:t>典型案例与责任认定标准</a:t>
            </a:r>
            <a:endParaRPr dirty="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典型案例分析</a:t>
            </a:r>
            <a:endParaRPr dirty="0" lang="en-US"/>
          </a:p>
        </p:txBody>
      </p:sp>
      <p:grpSp>
        <p:nvGrpSpPr>
          <p:cNvPr descr="37fc26f4-d437-4982-8e9c-510625fb3c1c" id="8" name="37e9254f-cd01-4222-a8b3-518de6c71795.source.3.zh-Hans.pptx">
            <a:extLst>
              <a:ext uri="{FF2B5EF4-FFF2-40B4-BE49-F238E27FC236}">
                <a16:creationId id="{4B67268B-40CA-998D-B7BC-F51C28E8AF21}"/>
              </a:ext>
            </a:extLst>
          </p:cNvPr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descr="529f15c4-ab04-4ff2-8a5f-aa675f3d456c" id="10" name="Title">
              <a:extLst>
                <a:ext uri="{FF2B5EF4-FFF2-40B4-BE49-F238E27FC236}">
                  <a16:creationId id="{1917146B-566D-E24A-4D93-F53E58805625}"/>
                </a:ext>
              </a:extLst>
            </p:cNvPr>
            <p:cNvSpPr>
              <a:spLocks/>
            </p:cNvSpPr>
            <p:nvPr/>
          </p:nvSpPr>
          <p:spPr>
            <a:xfrm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square">
              <a:normAutofit/>
            </a:bodyPr>
            <a:lstStyle/>
            <a:p>
              <a:pPr/>
              <a:r>
                <a:rPr altLang="en-US" b="1" dirty="0" lang="zh-CN" sz="2400">
                  <a:solidFill>
                    <a:schemeClr val="tx1"/>
                  </a:solidFill>
                </a:rPr>
                <a:t>从判例看避风港适用边界</a:t>
              </a:r>
              <a:endParaRPr dirty="0" lang="en-US"/>
            </a:p>
          </p:txBody>
        </p:sp>
        <p:grpSp>
          <p:nvGrpSpPr>
            <p:cNvPr descr="211370cb-ebb0-4b02-ade0-8066439210e1" id="37" name="组合 36">
              <a:extLst>
                <a:ext uri="{FF2B5EF4-FFF2-40B4-BE49-F238E27FC236}">
                  <a16:creationId id="{FC81A1FF-A457-E519-C4C4-D11E8840BE3C}"/>
                </a:ext>
              </a:extLst>
            </p:cNvPr>
            <p:cNvGrpSpPr/>
            <p:nvPr/>
          </p:nvGrpSpPr>
          <p:grpSpPr>
            <a:xfrm>
              <a:off x="660400" y="1761003"/>
              <a:ext cx="10858500" cy="1408612"/>
              <a:chOff x="885625" y="1931699"/>
              <a:chExt cx="10858500" cy="1408612"/>
            </a:xfrm>
          </p:grpSpPr>
          <p:sp>
            <p:nvSpPr>
              <p:cNvPr descr="83348fe8-560a-4c96-a17c-a7fb60654846" id="34" name="Number1">
                <a:extLst>
                  <a:ext uri="{FF2B5EF4-FFF2-40B4-BE49-F238E27FC236}">
                    <a16:creationId id="{4A9F02B9-2A22-7122-0FD4-AD1A13F02064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1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6ff2e7b4-ae48-4943-b5f9-a862385423f3" id="35" name="Bullet1">
                <a:extLst>
                  <a:ext uri="{FF2B5EF4-FFF2-40B4-BE49-F238E27FC236}">
                    <a16:creationId id="{877D742E-9C11-962F-0A57-946046E17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李森林诉新浪微博案：文章传播三年半，新浪在收起诉书后及时删除，因无证据证明“明知或应知”，法院认定不承担连带责任。</a:t>
                </a:r>
                <a:endParaRPr dirty="0" lang="en-US"/>
              </a:p>
            </p:txBody>
          </p:sp>
          <p:sp>
            <p:nvSpPr>
              <p:cNvPr descr="18b9a8b7-78f4-49ea-b031-0d75da372ff9" id="36" name="Text1">
                <a:extLst>
                  <a:ext uri="{FF2B5EF4-FFF2-40B4-BE49-F238E27FC236}">
                    <a16:creationId id="{63D152DC-2883-2FAB-5716-07852BCDBC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此案体现“通知+移除”程序的有效性，平台被动响应可免责，强调主观不知情是关键。</a:t>
                </a:r>
                <a:endParaRPr dirty="0" lang="en-US"/>
              </a:p>
            </p:txBody>
          </p:sp>
        </p:grpSp>
        <p:grpSp>
          <p:nvGrpSpPr>
            <p:cNvPr descr="64f83a74-a450-4820-97c8-13ad2f3d976a" id="2" name="组合 1">
              <a:extLst>
                <a:ext uri="{FF2B5EF4-FFF2-40B4-BE49-F238E27FC236}">
                  <a16:creationId id="{4C6048AA-87BB-BD2B-30D9-CBCCB477A886}"/>
                </a:ext>
              </a:extLst>
            </p:cNvPr>
            <p:cNvGrpSpPr/>
            <p:nvPr/>
          </p:nvGrpSpPr>
          <p:grpSpPr>
            <a:xfrm>
              <a:off x="660400" y="3243246"/>
              <a:ext cx="10858500" cy="1408612"/>
              <a:chOff x="885625" y="1931699"/>
              <a:chExt cx="10858500" cy="1408612"/>
            </a:xfrm>
          </p:grpSpPr>
          <p:sp>
            <p:nvSpPr>
              <p:cNvPr descr="60621995-5825-4fd8-8e1c-2c534872ef31" id="3" name="Number2">
                <a:extLst>
                  <a:ext uri="{FF2B5EF4-FFF2-40B4-BE49-F238E27FC236}">
                    <a16:creationId id="{E723EC43-AF31-82AF-139C-5FB99A7C7936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2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0123b2c1-3a64-4e66-82e3-614aee91cc1f" id="4" name="Bullet2">
                <a:extLst>
                  <a:ext uri="{FF2B5EF4-FFF2-40B4-BE49-F238E27FC236}">
                    <a16:creationId id="{F4FBC59C-4887-9103-2516-EB69EB0F96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“疯狂的石头”案：土豆网称无特征码且未获通知，但法院认为热门电影上传属明显侵权，平台应主动审查。</a:t>
                </a:r>
                <a:endParaRPr dirty="0" lang="en-US"/>
              </a:p>
            </p:txBody>
          </p:sp>
          <p:sp>
            <p:nvSpPr>
              <p:cNvPr descr="917e7a28-91ba-4b88-85a2-3a16b1def3f3" id="5" name="Text2">
                <a:extLst>
                  <a:ext uri="{FF2B5EF4-FFF2-40B4-BE49-F238E27FC236}">
                    <a16:creationId id="{8A68049D-109D-B26B-34F2-2247206ED0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判决指出专业平台对高热度作品负有更高注意义务，不能以“未通知”为由完全免责。</a:t>
                </a:r>
                <a:endParaRPr dirty="0" lang="en-US"/>
              </a:p>
            </p:txBody>
          </p:sp>
        </p:grpSp>
        <p:grpSp>
          <p:nvGrpSpPr>
            <p:cNvPr descr="f7622804-9359-4a7b-9285-c47e98a3a50d" id="6" name="组合 5">
              <a:extLst>
                <a:ext uri="{FF2B5EF4-FFF2-40B4-BE49-F238E27FC236}">
                  <a16:creationId id="{FBD6225E-72D2-F478-E1EE-701A08C9294E}"/>
                </a:ext>
              </a:extLst>
            </p:cNvPr>
            <p:cNvGrpSpPr/>
            <p:nvPr/>
          </p:nvGrpSpPr>
          <p:grpSpPr>
            <a:xfrm>
              <a:off x="660400" y="4725488"/>
              <a:ext cx="10858500" cy="1408612"/>
              <a:chOff x="885625" y="1931699"/>
              <a:chExt cx="10858500" cy="1408612"/>
            </a:xfrm>
          </p:grpSpPr>
          <p:sp>
            <p:nvSpPr>
              <p:cNvPr descr="cafaa2e8-c1ed-4f16-82c1-73102866461d" id="7" name="Number3">
                <a:extLst>
                  <a:ext uri="{FF2B5EF4-FFF2-40B4-BE49-F238E27FC236}">
                    <a16:creationId id="{7DF51940-3593-9994-8CD1-8BD0B0324939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3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278b1d9e-0b59-4579-a6f5-e7077e538633" id="11" name="Bullet3">
                <a:extLst>
                  <a:ext uri="{FF2B5EF4-FFF2-40B4-BE49-F238E27FC236}">
                    <a16:creationId id="{7AF4B05A-9512-21F2-19A1-956C4AB919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“斗罗大陆”案：权利人发送超200次函件、涉及2.3万条链接，平台仍存大量侵权内容。</a:t>
                </a:r>
                <a:endParaRPr dirty="0" lang="en-US"/>
              </a:p>
            </p:txBody>
          </p:sp>
          <p:sp>
            <p:nvSpPr>
              <p:cNvPr descr="d3129ac9-2476-4a44-9d8d-b370cbd34701" id="12" name="Text3">
                <a:extLst>
                  <a:ext uri="{FF2B5EF4-FFF2-40B4-BE49-F238E27FC236}">
                    <a16:creationId id="{D7C4BE5C-89E9-1A26-CB0C-CD3DA5621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法院认定平台明知侵权普遍存在却未采取有效过滤措施，不适用避风港免责。</a:t>
                </a:r>
                <a:endParaRPr dirty="0" lang="en-US"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红旗标准应用</a:t>
            </a:r>
            <a:endParaRPr dirty="0" lang="en-US"/>
          </a:p>
        </p:txBody>
      </p:sp>
      <p:grpSp>
        <p:nvGrpSpPr>
          <p:cNvPr descr="37fc26f4-d437-4982-8e9c-510625fb3c1c" id="8" name="37e9254f-cd01-4222-a8b3-518de6c71795.source.3.zh-Hans.pptx">
            <a:extLst>
              <a:ext uri="{FF2B5EF4-FFF2-40B4-BE49-F238E27FC236}">
                <a16:creationId id="{4B67268B-40CA-998D-B7BC-F51C28E8AF21}"/>
              </a:ext>
            </a:extLst>
          </p:cNvPr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descr="529f15c4-ab04-4ff2-8a5f-aa675f3d456c" id="10" name="Title">
              <a:extLst>
                <a:ext uri="{FF2B5EF4-FFF2-40B4-BE49-F238E27FC236}">
                  <a16:creationId id="{1917146B-566D-E24A-4D93-F53E58805625}"/>
                </a:ext>
              </a:extLst>
            </p:cNvPr>
            <p:cNvSpPr>
              <a:spLocks/>
            </p:cNvSpPr>
            <p:nvPr/>
          </p:nvSpPr>
          <p:spPr>
            <a:xfrm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square">
              <a:normAutofit/>
            </a:bodyPr>
            <a:lstStyle/>
            <a:p>
              <a:pPr/>
              <a:r>
                <a:rPr altLang="en-US" b="1" dirty="0" lang="zh-CN" sz="2400">
                  <a:solidFill>
                    <a:schemeClr val="tx1"/>
                  </a:solidFill>
                </a:rPr>
                <a:t>明知或应知的司法判断尺度</a:t>
              </a:r>
              <a:endParaRPr dirty="0" lang="en-US"/>
            </a:p>
          </p:txBody>
        </p:sp>
        <p:grpSp>
          <p:nvGrpSpPr>
            <p:cNvPr descr="211370cb-ebb0-4b02-ade0-8066439210e1" id="37" name="组合 36">
              <a:extLst>
                <a:ext uri="{FF2B5EF4-FFF2-40B4-BE49-F238E27FC236}">
                  <a16:creationId id="{FC81A1FF-A457-E519-C4C4-D11E8840BE3C}"/>
                </a:ext>
              </a:extLst>
            </p:cNvPr>
            <p:cNvGrpSpPr/>
            <p:nvPr/>
          </p:nvGrpSpPr>
          <p:grpSpPr>
            <a:xfrm>
              <a:off x="660400" y="1761003"/>
              <a:ext cx="10858500" cy="1408612"/>
              <a:chOff x="885625" y="1931699"/>
              <a:chExt cx="10858500" cy="1408612"/>
            </a:xfrm>
          </p:grpSpPr>
          <p:sp>
            <p:nvSpPr>
              <p:cNvPr descr="83348fe8-560a-4c96-a17c-a7fb60654846" id="34" name="Number1">
                <a:extLst>
                  <a:ext uri="{FF2B5EF4-FFF2-40B4-BE49-F238E27FC236}">
                    <a16:creationId id="{4A9F02B9-2A22-7122-0FD4-AD1A13F02064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1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6ff2e7b4-ae48-4943-b5f9-a862385423f3" id="35" name="Bullet1">
                <a:extLst>
                  <a:ext uri="{FF2B5EF4-FFF2-40B4-BE49-F238E27FC236}">
                    <a16:creationId id="{877D742E-9C11-962F-0A57-946046E17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红旗标准定义：侵权事实如“红旗”般明显，理性人无法忽视，平台不得以不知情推责。</a:t>
                </a:r>
                <a:endParaRPr dirty="0" lang="en-US"/>
              </a:p>
            </p:txBody>
          </p:sp>
          <p:sp>
            <p:nvSpPr>
              <p:cNvPr descr="18b9a8b7-78f4-49ea-b031-0d75da372ff9" id="36" name="Text1">
                <a:extLst>
                  <a:ext uri="{FF2B5EF4-FFF2-40B4-BE49-F238E27FC236}">
                    <a16:creationId id="{63D152DC-2883-2FAB-5716-07852BCDBC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来源于《民法典》第1197条，构成避风港原则的例外情形。</a:t>
                </a:r>
                <a:endParaRPr dirty="0" lang="en-US"/>
              </a:p>
            </p:txBody>
          </p:sp>
        </p:grpSp>
        <p:grpSp>
          <p:nvGrpSpPr>
            <p:cNvPr descr="64f83a74-a450-4820-97c8-13ad2f3d976a" id="2" name="组合 1">
              <a:extLst>
                <a:ext uri="{FF2B5EF4-FFF2-40B4-BE49-F238E27FC236}">
                  <a16:creationId id="{4C6048AA-87BB-BD2B-30D9-CBCCB477A886}"/>
                </a:ext>
              </a:extLst>
            </p:cNvPr>
            <p:cNvGrpSpPr/>
            <p:nvPr/>
          </p:nvGrpSpPr>
          <p:grpSpPr>
            <a:xfrm>
              <a:off x="660400" y="3243246"/>
              <a:ext cx="10858500" cy="1408612"/>
              <a:chOff x="885625" y="1931699"/>
              <a:chExt cx="10858500" cy="1408612"/>
            </a:xfrm>
          </p:grpSpPr>
          <p:sp>
            <p:nvSpPr>
              <p:cNvPr descr="60621995-5825-4fd8-8e1c-2c534872ef31" id="3" name="Number2">
                <a:extLst>
                  <a:ext uri="{FF2B5EF4-FFF2-40B4-BE49-F238E27FC236}">
                    <a16:creationId id="{E723EC43-AF31-82AF-139C-5FB99A7C7936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2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0123b2c1-3a64-4e66-82e3-614aee91cc1f" id="4" name="Bullet2">
                <a:extLst>
                  <a:ext uri="{FF2B5EF4-FFF2-40B4-BE49-F238E27FC236}">
                    <a16:creationId id="{F4FBC59C-4887-9103-2516-EB69EB0F96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明显性判断依据：作品知名度、上传时间、内容完整性、用户评论指向性等综合因素。</a:t>
                </a:r>
                <a:endParaRPr dirty="0" lang="en-US"/>
              </a:p>
            </p:txBody>
          </p:sp>
          <p:sp>
            <p:nvSpPr>
              <p:cNvPr descr="917e7a28-91ba-4b88-85a2-3a16b1def3f3" id="5" name="Text2">
                <a:extLst>
                  <a:ext uri="{FF2B5EF4-FFF2-40B4-BE49-F238E27FC236}">
                    <a16:creationId id="{8A68049D-109D-B26B-34F2-2247206ED0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如热门影视剧刚上映即完整上传，可推定平台“应知”。</a:t>
                </a:r>
                <a:endParaRPr dirty="0" lang="en-US"/>
              </a:p>
            </p:txBody>
          </p:sp>
        </p:grpSp>
        <p:grpSp>
          <p:nvGrpSpPr>
            <p:cNvPr descr="f7622804-9359-4a7b-9285-c47e98a3a50d" id="6" name="组合 5">
              <a:extLst>
                <a:ext uri="{FF2B5EF4-FFF2-40B4-BE49-F238E27FC236}">
                  <a16:creationId id="{FBD6225E-72D2-F478-E1EE-701A08C9294E}"/>
                </a:ext>
              </a:extLst>
            </p:cNvPr>
            <p:cNvGrpSpPr/>
            <p:nvPr/>
          </p:nvGrpSpPr>
          <p:grpSpPr>
            <a:xfrm>
              <a:off x="660400" y="4725488"/>
              <a:ext cx="10858500" cy="1408612"/>
              <a:chOff x="885625" y="1931699"/>
              <a:chExt cx="10858500" cy="1408612"/>
            </a:xfrm>
          </p:grpSpPr>
          <p:sp>
            <p:nvSpPr>
              <p:cNvPr descr="cafaa2e8-c1ed-4f16-82c1-73102866461d" id="7" name="Number3">
                <a:extLst>
                  <a:ext uri="{FF2B5EF4-FFF2-40B4-BE49-F238E27FC236}">
                    <a16:creationId id="{7DF51940-3593-9994-8CD1-8BD0B0324939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 fontScale="92500" lnSpcReduction="10000"/>
              </a:bodyPr>
              <a:lstStyle/>
              <a:p>
                <a:pPr algn="ctr"/>
                <a:r>
                  <a:rPr dirty="0" lang="en-US">
                    <a:solidFill>
                      <a:schemeClr val="accent1"/>
                    </a:solidFill>
                  </a:rPr>
                  <a:t>3</a:t>
                </a:r>
                <a:endParaRPr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descr="278b1d9e-0b59-4579-a6f5-e7077e538633" id="11" name="Bullet3">
                <a:extLst>
                  <a:ext uri="{FF2B5EF4-FFF2-40B4-BE49-F238E27FC236}">
                    <a16:creationId id="{7AF4B05A-9512-21F2-19A1-956C4AB919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技术能力影响认定：平台具备内容识别、AI审核等技术手段，未启用则可能被认定为“放任”。</a:t>
                </a:r>
                <a:endParaRPr dirty="0" lang="en-US"/>
              </a:p>
            </p:txBody>
          </p:sp>
          <p:sp>
            <p:nvSpPr>
              <p:cNvPr descr="d3129ac9-2476-4a44-9d8d-b370cbd34701" id="12" name="Text3">
                <a:extLst>
                  <a:ext uri="{FF2B5EF4-FFF2-40B4-BE49-F238E27FC236}">
                    <a16:creationId id="{D7C4BE5C-89E9-1A26-CB0C-CD3DA5621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抖音案中法院指出其拦截超2.6亿条违规内容，证明其具备过滤能力。</a:t>
                </a:r>
                <a:endParaRPr dirty="0" lang="en-US"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平台责任边界</a:t>
            </a:r>
            <a:endParaRPr dirty="0" lang="en-US"/>
          </a:p>
        </p:txBody>
      </p:sp>
      <p:grpSp>
        <p:nvGrpSpPr>
          <p:cNvPr descr="080f8882-b540-4411-9210-1e2255fb48ed" id="5" name="209b288e-08fb-4dd4-aa76-a4b68b900cab.source.3.zh-Hans.pptx">
            <a:extLst>
              <a:ext uri="{FF2B5EF4-FFF2-40B4-BE49-F238E27FC236}">
                <a16:creationId id="{56FD7539-1289-558E-997D-49C156A78256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08333e16-713c-435d-9fe9-1d8b7971f187" id="2" name="Title">
              <a:extLst>
                <a:ext uri="{FF2B5EF4-FFF2-40B4-BE49-F238E27FC236}">
                  <a16:creationId id="{748D3429-CE1D-FFF0-8CD0-E6DD2ADBBD6C}"/>
                </a:ext>
              </a:extLst>
            </p:cNvPr>
            <p:cNvSpPr>
              <a:spLocks/>
            </p:cNvSpPr>
            <p:nvPr/>
          </p:nvSpPr>
          <p:spPr>
            <a:xfrm>
              <a:off x="660400" y="1130300"/>
              <a:ext cx="10858500" cy="490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 bIns="45720" lIns="91440" rIns="91440" rtlCol="0" tIns="45720" wrap="square"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altLang="en-US" b="1" dirty="0" lang="zh-CN" sz="2400">
                  <a:solidFill>
                    <a:schemeClr val="tx1"/>
                  </a:solidFill>
                  <a:latin charset="0" panose="020B0604020202020204" pitchFamily="34" typeface="Arial"/>
                  <a:ea charset="-122" panose="020B0503020204020204" pitchFamily="34" typeface="微软雅黑"/>
                  <a:cs typeface="+mn-ea"/>
                  <a:sym charset="0" panose="020B0604020202020204" pitchFamily="34" typeface="Arial"/>
                </a:rPr>
                <a:t>从被动免责到主动治理的演进</a:t>
              </a:r>
              <a:endParaRPr dirty="0" lang="en-US"/>
            </a:p>
          </p:txBody>
        </p:sp>
        <p:grpSp>
          <p:nvGrpSpPr>
            <p:cNvPr descr="b1dd61c6-f4f8-424f-baa1-e385a881c989" id="7" name="组合 6">
              <a:extLst>
                <a:ext uri="{FF2B5EF4-FFF2-40B4-BE49-F238E27FC236}">
                  <a16:creationId id="{57B99AC8-0583-E565-BE92-8D22AEEC9E95}"/>
                </a:ext>
              </a:extLst>
            </p:cNvPr>
            <p:cNvGrpSpPr/>
            <p:nvPr/>
          </p:nvGrpSpPr>
          <p:grpSpPr>
            <a:xfrm>
              <a:off x="660400" y="1655179"/>
              <a:ext cx="10858500" cy="1331051"/>
              <a:chOff x="660400" y="1655179"/>
              <a:chExt cx="10858500" cy="1331051"/>
            </a:xfrm>
          </p:grpSpPr>
          <p:sp>
            <p:nvSpPr>
              <p:cNvPr descr="25d1fc54-88c9-4647-9da7-909bb75edaef" id="6" name="ComponentBackground1">
                <a:extLst>
                  <a:ext uri="{FF2B5EF4-FFF2-40B4-BE49-F238E27FC236}">
                    <a16:creationId id="{5DF76B54-72A8-A151-D83F-EE981552DCA6}"/>
                  </a:ext>
                </a:extLst>
              </p:cNvPr>
              <p:cNvSpPr/>
              <p:nvPr/>
            </p:nvSpPr>
            <p:spPr>
              <a:xfrm>
                <a:off x="660400" y="1655179"/>
                <a:ext cx="10858500" cy="1331051"/>
              </a:xfrm>
              <a:prstGeom prst="roundRect">
                <a:avLst>
                  <a:gd fmla="val 7854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endParaRPr altLang="en-US" lang="zh-CN"/>
              </a:p>
            </p:txBody>
          </p:sp>
          <p:sp>
            <p:nvSpPr>
              <p:cNvPr descr="200e7e23-1b04-4611-9845-5702b81167a8" id="3" name="Text1">
                <a:extLst>
                  <a:ext uri="{FF2B5EF4-FFF2-40B4-BE49-F238E27FC236}">
                    <a16:creationId id="{32C6CE0C-D239-84FC-53D9-2D60439F38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2088336"/>
                <a:ext cx="10197843" cy="783593"/>
              </a:xfrm>
              <a:prstGeom prst="rect">
                <a:avLst/>
              </a:prstGeom>
              <a:noFill/>
            </p:spPr>
            <p:txBody>
              <a:bodyPr anchor="t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200">
                    <a:latin charset="0" panose="020B0604020202020204" pitchFamily="34" typeface="Arial"/>
                    <a:ea charset="-122" panose="020B0503020204020204" pitchFamily="34" typeface="微软雅黑"/>
                    <a:sym charset="0" panose="020B0604020202020204" pitchFamily="34" typeface="Arial"/>
                  </a:rPr>
                  <a:t>依据《信息网络传播权保护条例》第22条五项条件构建抗辩基础。</a:t>
                </a:r>
                <a:endParaRPr dirty="0" lang="en-US"/>
              </a:p>
            </p:txBody>
          </p:sp>
          <p:sp>
            <p:nvSpPr>
              <p:cNvPr descr="2be4ad23-ed70-4668-a00d-e569ef1e3942" id="4" name="Bullet1">
                <a:extLst>
                  <a:ext uri="{FF2B5EF4-FFF2-40B4-BE49-F238E27FC236}">
                    <a16:creationId id="{BA5443AE-4AC2-8A48-67B9-9DB2D4AA5A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1697384"/>
                <a:ext cx="10197843" cy="390954"/>
              </a:xfrm>
              <a:prstGeom prst="rect">
                <a:avLst/>
              </a:prstGeom>
              <a:noFill/>
            </p:spPr>
            <p:txBody>
              <a:bodyPr anchor="ctr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b="1" baseline="0" cap="none" dirty="0" i="0" kern="1200" kumimoji="0" lang="zh-CN" noProof="0" normalizeH="0" spc="0" strike="noStrike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sym charset="0" panose="020B0604020202020204" pitchFamily="34" typeface="Arial"/>
                  </a:rPr>
                  <a:t>传统边界：仅提供技术服务、未获利、及时删除，即可免责。</a:t>
                </a:r>
                <a:endParaRPr dirty="0" lang="en-US"/>
              </a:p>
            </p:txBody>
          </p:sp>
          <p:sp>
            <p:nvSpPr>
              <p:cNvPr descr="279b8fb5-8f3a-40af-9cbd-f2ed9a90f125" id="26" name="Number1">
                <a:extLst>
                  <a:ext uri="{FF2B5EF4-FFF2-40B4-BE49-F238E27FC236}">
                    <a16:creationId id="{84FADAD4-C0D6-3DC9-ACF3-74605DBD71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400" y="1657350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dirty="0" lang="en-US" sz="1600"/>
                  <a:t>1</a:t>
                </a:r>
                <a:endParaRPr altLang="en-US" dirty="0" lang="zh-CN" sz="1600"/>
              </a:p>
            </p:txBody>
          </p:sp>
        </p:grpSp>
        <p:grpSp>
          <p:nvGrpSpPr>
            <p:cNvPr descr="3ebef08f-eb1b-464b-af5b-0ce953d8a2dd" id="9" name="组合 8">
              <a:extLst>
                <a:ext uri="{FF2B5EF4-FFF2-40B4-BE49-F238E27FC236}">
                  <a16:creationId id="{B1AA6C1E-8A55-ECE1-A67D-9D1763137689}"/>
                </a:ext>
              </a:extLst>
            </p:cNvPr>
            <p:cNvGrpSpPr/>
            <p:nvPr/>
          </p:nvGrpSpPr>
          <p:grpSpPr>
            <a:xfrm>
              <a:off x="660400" y="3229114"/>
              <a:ext cx="10858500" cy="1331051"/>
              <a:chOff x="660400" y="2791234"/>
              <a:chExt cx="10858500" cy="1331051"/>
            </a:xfrm>
          </p:grpSpPr>
          <p:sp>
            <p:nvSpPr>
              <p:cNvPr descr="4037f9a9-1825-4da7-b7ea-a6ddb06e8277" id="146" name="ComponentBackground2">
                <a:extLst>
                  <a:ext uri="{FF2B5EF4-FFF2-40B4-BE49-F238E27FC236}">
                    <a16:creationId id="{AC8EEDD4-DC84-BB67-8641-7DAEC7E5249C}"/>
                  </a:ext>
                </a:extLst>
              </p:cNvPr>
              <p:cNvSpPr/>
              <p:nvPr/>
            </p:nvSpPr>
            <p:spPr>
              <a:xfrm>
                <a:off x="660400" y="2791234"/>
                <a:ext cx="10858500" cy="1331051"/>
              </a:xfrm>
              <a:prstGeom prst="roundRect">
                <a:avLst>
                  <a:gd fmla="val 7854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endParaRPr altLang="en-US" lang="zh-CN"/>
              </a:p>
            </p:txBody>
          </p:sp>
          <p:sp>
            <p:nvSpPr>
              <p:cNvPr descr="a7ae8571-b7d1-45f1-8ba0-a300ff69bd6a" id="148" name="Text2">
                <a:extLst>
                  <a:ext uri="{FF2B5EF4-FFF2-40B4-BE49-F238E27FC236}">
                    <a16:creationId id="{DE745480-5300-D4CC-0FBD-FFE65A1101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3224391"/>
                <a:ext cx="10197843" cy="783593"/>
              </a:xfrm>
              <a:prstGeom prst="rect">
                <a:avLst/>
              </a:prstGeom>
              <a:noFill/>
            </p:spPr>
            <p:txBody>
              <a:bodyPr anchor="t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200">
                    <a:latin charset="0" panose="020B0604020202020204" pitchFamily="34" typeface="Arial"/>
                    <a:ea charset="-122" panose="020B0503020204020204" pitchFamily="34" typeface="微软雅黑"/>
                    <a:sym charset="0" panose="020B0604020202020204" pitchFamily="34" typeface="Arial"/>
                  </a:rPr>
                  <a:t>如直播打赏抽成、签约主播模式下，平台难称“中立”。</a:t>
                </a:r>
                <a:endParaRPr dirty="0" lang="en-US"/>
              </a:p>
            </p:txBody>
          </p:sp>
          <p:sp>
            <p:nvSpPr>
              <p:cNvPr descr="94efb225-508b-4d9a-a971-61497285f439" id="149" name="Bullet2">
                <a:extLst>
                  <a:ext uri="{FF2B5EF4-FFF2-40B4-BE49-F238E27FC236}">
                    <a16:creationId id="{0497B67B-76D1-1D23-23A6-0E878A6457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2833439"/>
                <a:ext cx="10197843" cy="390954"/>
              </a:xfrm>
              <a:prstGeom prst="rect">
                <a:avLst/>
              </a:prstGeom>
              <a:noFill/>
            </p:spPr>
            <p:txBody>
              <a:bodyPr anchor="ctr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b="1" baseline="0" cap="none" dirty="0" i="0" kern="1200" kumimoji="0" lang="zh-CN" noProof="0" normalizeH="0" spc="0" strike="noStrike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sym charset="0" panose="020B0604020202020204" pitchFamily="34" typeface="Arial"/>
                  </a:rPr>
                  <a:t>新趋势：平台若直接获利或深度参与运营，注意义务提升，避风港适用受限。</a:t>
                </a:r>
                <a:endParaRPr dirty="0" lang="en-US"/>
              </a:p>
            </p:txBody>
          </p:sp>
          <p:sp>
            <p:nvSpPr>
              <p:cNvPr descr="4ac02057-6d2c-4e96-9976-f368c92935c9" id="145" name="Number2">
                <a:extLst>
                  <a:ext uri="{FF2B5EF4-FFF2-40B4-BE49-F238E27FC236}">
                    <a16:creationId id="{84D350E5-6F71-8BC9-BB37-F3E0E1D2FE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400" y="2793405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dirty="0" lang="en-US" sz="1600"/>
                  <a:t>2</a:t>
                </a:r>
                <a:endParaRPr altLang="en-US" dirty="0" lang="zh-CN" sz="1600"/>
              </a:p>
            </p:txBody>
          </p:sp>
        </p:grpSp>
        <p:grpSp>
          <p:nvGrpSpPr>
            <p:cNvPr descr="3944699b-7aad-4666-836b-6b0885156356" id="10" name="组合 9">
              <a:extLst>
                <a:ext uri="{FF2B5EF4-FFF2-40B4-BE49-F238E27FC236}">
                  <a16:creationId id="{74D5124A-447E-1658-1160-3EAB50B3189D}"/>
                </a:ext>
              </a:extLst>
            </p:cNvPr>
            <p:cNvGrpSpPr/>
            <p:nvPr/>
          </p:nvGrpSpPr>
          <p:grpSpPr>
            <a:xfrm>
              <a:off x="660400" y="4803049"/>
              <a:ext cx="10858500" cy="1331051"/>
              <a:chOff x="660400" y="3927289"/>
              <a:chExt cx="10858500" cy="1331051"/>
            </a:xfrm>
          </p:grpSpPr>
          <p:sp>
            <p:nvSpPr>
              <p:cNvPr descr="ba44688e-1da3-445f-9aae-fed7f9c62ce4" id="153" name="ComponentBackground3">
                <a:extLst>
                  <a:ext uri="{FF2B5EF4-FFF2-40B4-BE49-F238E27FC236}">
                    <a16:creationId id="{99498F78-BAA7-8FCA-91D2-770DC812350E}"/>
                  </a:ext>
                </a:extLst>
              </p:cNvPr>
              <p:cNvSpPr/>
              <p:nvPr/>
            </p:nvSpPr>
            <p:spPr>
              <a:xfrm>
                <a:off x="660400" y="3927289"/>
                <a:ext cx="10858500" cy="1331051"/>
              </a:xfrm>
              <a:prstGeom prst="roundRect">
                <a:avLst>
                  <a:gd fmla="val 7854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endParaRPr altLang="en-US" lang="zh-CN"/>
              </a:p>
            </p:txBody>
          </p:sp>
          <p:sp>
            <p:nvSpPr>
              <p:cNvPr descr="828eaccd-e478-4f9c-8f36-052b1dd4559f" id="155" name="Text3">
                <a:extLst>
                  <a:ext uri="{FF2B5EF4-FFF2-40B4-BE49-F238E27FC236}">
                    <a16:creationId id="{9AF26C84-FB90-5D37-030F-561765CEAD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4360446"/>
                <a:ext cx="10197843" cy="783593"/>
              </a:xfrm>
              <a:prstGeom prst="rect">
                <a:avLst/>
              </a:prstGeom>
              <a:noFill/>
            </p:spPr>
            <p:txBody>
              <a:bodyPr anchor="t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200">
                    <a:latin charset="0" panose="020B0604020202020204" pitchFamily="34" typeface="Arial"/>
                    <a:ea charset="-122" panose="020B0503020204020204" pitchFamily="34" typeface="微软雅黑"/>
                    <a:sym charset="0" panose="020B0604020202020204" pitchFamily="34" typeface="Arial"/>
                  </a:rPr>
                  <a:t>司法实践释放信号：避风港不再是平台推责的万能借口。</a:t>
                </a:r>
                <a:endParaRPr dirty="0" lang="en-US"/>
              </a:p>
            </p:txBody>
          </p:sp>
          <p:sp>
            <p:nvSpPr>
              <p:cNvPr descr="131c9396-7bf8-45ad-9658-a86d418e9733" id="156" name="Bullet3">
                <a:extLst>
                  <a:ext uri="{FF2B5EF4-FFF2-40B4-BE49-F238E27FC236}">
                    <a16:creationId id="{9BEFAC9B-6E3F-C7D0-BBD8-80AAFC0609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3969494"/>
                <a:ext cx="10197843" cy="390954"/>
              </a:xfrm>
              <a:prstGeom prst="rect">
                <a:avLst/>
              </a:prstGeom>
              <a:noFill/>
            </p:spPr>
            <p:txBody>
              <a:bodyPr anchor="ctr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b="1" baseline="0" cap="none" dirty="0" i="0" kern="1200" kumimoji="0" lang="zh-CN" noProof="0" normalizeH="0" spc="0" strike="noStrike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sym charset="0" panose="020B0604020202020204" pitchFamily="34" typeface="Arial"/>
                  </a:rPr>
                  <a:t>责任强化方向：从“通知-删除”转向“必要措施”，包括预防性过滤与版权合作机制。</a:t>
                </a:r>
                <a:endParaRPr dirty="0" lang="en-US"/>
              </a:p>
            </p:txBody>
          </p:sp>
          <p:sp>
            <p:nvSpPr>
              <p:cNvPr descr="6d1ae77d-6156-44d7-a95a-30d6c317a62f" id="152" name="Number3">
                <a:extLst>
                  <a:ext uri="{FF2B5EF4-FFF2-40B4-BE49-F238E27FC236}">
                    <a16:creationId id="{7C355033-361D-87A5-AAF1-890327FE7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400" y="3929460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none">
                <a:normAutofit/>
              </a:bodyPr>
              <a:lstStyle/>
              <a:p>
                <a:pPr algn="ctr"/>
                <a:r>
                  <a:rPr altLang="zh-CN" dirty="0" lang="en-US" sz="1600"/>
                  <a:t>3</a:t>
                </a:r>
                <a:endParaRPr altLang="en-US" dirty="0" lang="zh-CN" sz="1600"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e432bed3-95bb-4ff9-a468-9817f6fd6cdb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适用限制</a:t>
            </a:r>
            <a:endParaRPr dirty="0" lang="en-US"/>
          </a:p>
        </p:txBody>
      </p:sp>
      <p:sp>
        <p:nvSpPr>
          <p:cNvPr descr="30ecfc98-2258-43d3-8443-dd7f3d2bb5c9" id="3" name=""/>
          <p:cNvSpPr>
            <a:spLocks noGrp="1"/>
          </p:cNvSpPr>
          <p:nvPr>
            <p:ph hasCustomPrompt="1" idx="1" type="body"/>
          </p:nvPr>
        </p:nvSpPr>
        <p:spPr/>
        <p:txBody>
          <a:bodyPr/>
          <a:lstStyle/>
          <a:p>
            <a:pPr/>
            <a:r>
              <a:rPr altLang="en-US" dirty="0" lang="zh-CN"/>
              <a:t>滥用现状与责任边界演进</a:t>
            </a:r>
            <a:endParaRPr dirty="0"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滥用现状分析</a:t>
            </a:r>
            <a:endParaRPr dirty="0" lang="en-US"/>
          </a:p>
        </p:txBody>
      </p:sp>
      <p:grpSp>
        <p:nvGrpSpPr>
          <p:cNvPr descr="22f57fe2-313f-40fe-be53-75ec75f12740" id="3" name="18d68481-2061-4094-8df5-87c5d1a3202d.source.4.zh-Hans.pptx">
            <a:extLst>
              <a:ext uri="{FF2B5EF4-FFF2-40B4-BE49-F238E27FC236}">
                <a16:creationId id="{FCE83ECC-DD71-391B-EC8C-EE8A2FB14596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descr="cce0d4b6-754d-496a-a24a-b96f5f1645ed" id="59" name="直接连接符 58">
              <a:extLst>
                <a:ext uri="{FF2B5EF4-FFF2-40B4-BE49-F238E27FC236}">
                  <a16:creationId id="{B50A4757-F344-2372-1D7A-337037507C8F}"/>
                </a:ext>
              </a:extLst>
            </p:cNvPr>
            <p:cNvCxnSpPr>
              <a:cxnSpLocks/>
            </p:cNvCxnSpPr>
            <p:nvPr/>
          </p:nvCxnSpPr>
          <p:spPr>
            <a:xfrm>
              <a:off x="6089650" y="1977390"/>
              <a:ext cx="0" cy="415671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bb9306e0-46d5-425a-8899-285fc3cd3fa9" id="79" name="IconMisc1">
              <a:extLst>
                <a:ext uri="{FF2B5EF4-FFF2-40B4-BE49-F238E27FC236}">
                  <a16:creationId id="{03C9BF79-2FEB-2095-05EB-4F005B9830DA}"/>
                </a:ext>
              </a:extLst>
            </p:cNvPr>
            <p:cNvSpPr/>
            <p:nvPr/>
          </p:nvSpPr>
          <p:spPr>
            <a:xfrm>
              <a:off x="5850413" y="1963419"/>
              <a:ext cx="471011" cy="471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19679" w="19679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bg1">
                <a:lumMod val="100000"/>
              </a:schemeClr>
            </a:solidFill>
            <a:ln w="6350">
              <a:solidFill>
                <a:schemeClr val="accent1"/>
              </a:solidFill>
              <a:miter lim="400000"/>
            </a:ln>
          </p:spPr>
          <p:txBody>
            <a:bodyPr anchor="ctr" bIns="45720" lIns="91440" rIns="91440" tIns="45720" wrap="none">
              <a:normAutofit/>
            </a:bodyPr>
            <a:lstStyle/>
            <a:p>
              <a:pPr algn="ctr"/>
              <a:r>
                <a:rPr b="1" dirty="0" lang="en-US" sz="1400"/>
                <a:t>1</a:t>
              </a:r>
              <a:endParaRPr b="1" dirty="0" sz="1400"/>
            </a:p>
          </p:txBody>
        </p:sp>
        <p:sp>
          <p:nvSpPr>
            <p:cNvPr descr="f4659a09-2d43-4631-8b2d-a60e90a4ad4f" id="74" name="IconMisc2">
              <a:extLst>
                <a:ext uri="{FF2B5EF4-FFF2-40B4-BE49-F238E27FC236}">
                  <a16:creationId id="{719615ED-7EE4-0879-EDF0-542BCE3E71D2}"/>
                </a:ext>
              </a:extLst>
            </p:cNvPr>
            <p:cNvSpPr/>
            <p:nvPr/>
          </p:nvSpPr>
          <p:spPr>
            <a:xfrm>
              <a:off x="5850413" y="4092103"/>
              <a:ext cx="471011" cy="471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19679" w="19679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bg1">
                <a:lumMod val="100000"/>
              </a:schemeClr>
            </a:solidFill>
            <a:ln w="6350">
              <a:solidFill>
                <a:schemeClr val="accent1"/>
              </a:solidFill>
              <a:miter lim="400000"/>
            </a:ln>
          </p:spPr>
          <p:txBody>
            <a:bodyPr anchor="ctr" bIns="45720" lIns="91440" rIns="91440" tIns="45720" wrap="none">
              <a:normAutofit/>
            </a:bodyPr>
            <a:lstStyle/>
            <a:p>
              <a:pPr algn="ctr"/>
              <a:r>
                <a:rPr b="1" dirty="0" lang="en-US" sz="1400"/>
                <a:t>2</a:t>
              </a:r>
              <a:endParaRPr b="1" dirty="0" sz="1400"/>
            </a:p>
          </p:txBody>
        </p:sp>
        <p:grpSp>
          <p:nvGrpSpPr>
            <p:cNvPr descr="536e5485-9112-4a83-881d-aab1395e1a29" id="89" name="组合 88">
              <a:extLst>
                <a:ext uri="{FF2B5EF4-FFF2-40B4-BE49-F238E27FC236}">
                  <a16:creationId id="{0DAF0FC7-C607-D822-9D5F-EE4CF7F85A43}"/>
                </a:ext>
              </a:extLst>
            </p:cNvPr>
            <p:cNvGrpSpPr/>
            <p:nvPr/>
          </p:nvGrpSpPr>
          <p:grpSpPr>
            <a:xfrm>
              <a:off x="660400" y="1963420"/>
              <a:ext cx="4579257" cy="2041996"/>
              <a:chOff x="660400" y="1963420"/>
              <a:chExt cx="4579257" cy="2041996"/>
            </a:xfrm>
          </p:grpSpPr>
          <p:sp>
            <p:nvSpPr>
              <p:cNvPr descr="9141dedc-145d-41ed-b6d3-061de5f2efee" id="80" name="Text1">
                <a:extLst>
                  <a:ext uri="{FF2B5EF4-FFF2-40B4-BE49-F238E27FC236}">
                    <a16:creationId id="{3BB905EF-FD4A-1FD4-83F3-B29A2F96BF95}"/>
                  </a:ext>
                </a:extLst>
              </p:cNvPr>
              <p:cNvSpPr txBox="1"/>
              <p:nvPr/>
            </p:nvSpPr>
            <p:spPr>
              <a:xfrm>
                <a:off x="660400" y="2422201"/>
                <a:ext cx="4579257" cy="1583215"/>
              </a:xfrm>
              <a:prstGeom prst="rect">
                <a:avLst/>
              </a:prstGeom>
              <a:noFill/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altLang="en-US" dirty="0" lang="zh-CN" sz="1200"/>
                  <a:t>平台以“通知-删除”为免责挡箭牌，放任侵权内容传播，形成系统性盗版生态[R1]</a:t>
                </a:r>
                <a:endParaRPr dirty="0" lang="en-US"/>
              </a:p>
            </p:txBody>
          </p:sp>
          <p:sp>
            <p:nvSpPr>
              <p:cNvPr descr="a8af2596-3965-4806-945c-37976d85c503" id="81" name="Bullet1">
                <a:extLst>
                  <a:ext uri="{FF2B5EF4-FFF2-40B4-BE49-F238E27FC236}">
                    <a16:creationId id="{4993360A-4C32-8EDA-EFD3-6BA3A46EC7AF}"/>
                  </a:ext>
                </a:extLst>
              </p:cNvPr>
              <p:cNvSpPr txBox="1"/>
              <p:nvPr/>
            </p:nvSpPr>
            <p:spPr>
              <a:xfrm>
                <a:off x="660400" y="1963420"/>
                <a:ext cx="4579257" cy="458781"/>
              </a:xfrm>
              <a:prstGeom prst="rect">
                <a:avLst/>
              </a:prstGeom>
              <a:noFill/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/>
                <a:r>
                  <a:rPr altLang="en-US" b="1" dirty="0" lang="zh-CN"/>
                  <a:t>部分平台奉行“先侵权、等通知；不通知、不负责”策略</a:t>
                </a:r>
                <a:endParaRPr dirty="0" lang="en-US"/>
              </a:p>
            </p:txBody>
          </p:sp>
        </p:grpSp>
        <p:grpSp>
          <p:nvGrpSpPr>
            <p:cNvPr descr="9f116d12-f941-45bf-b15f-2a6c78cbbb27" id="90" name="组合 89">
              <a:extLst>
                <a:ext uri="{FF2B5EF4-FFF2-40B4-BE49-F238E27FC236}">
                  <a16:creationId id="{E6D5AD45-C73C-29F1-EEA6-D5CD00E7D870}"/>
                </a:ext>
              </a:extLst>
            </p:cNvPr>
            <p:cNvGrpSpPr/>
            <p:nvPr/>
          </p:nvGrpSpPr>
          <p:grpSpPr>
            <a:xfrm>
              <a:off x="660400" y="4092104"/>
              <a:ext cx="4579257" cy="2041996"/>
              <a:chOff x="660400" y="3036570"/>
              <a:chExt cx="4579257" cy="2041996"/>
            </a:xfrm>
          </p:grpSpPr>
          <p:sp>
            <p:nvSpPr>
              <p:cNvPr descr="1f639a13-82f7-4116-bb97-fe3c887d13ae" id="75" name="Text2">
                <a:extLst>
                  <a:ext uri="{FF2B5EF4-FFF2-40B4-BE49-F238E27FC236}">
                    <a16:creationId id="{6839AEDF-449A-9DCD-6E46-332CA24221E0}"/>
                  </a:ext>
                </a:extLst>
              </p:cNvPr>
              <p:cNvSpPr txBox="1"/>
              <p:nvPr/>
            </p:nvSpPr>
            <p:spPr>
              <a:xfrm>
                <a:off x="660400" y="3495351"/>
                <a:ext cx="4579257" cy="1583215"/>
              </a:xfrm>
              <a:prstGeom prst="rect">
                <a:avLst/>
              </a:prstGeom>
              <a:noFill/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altLang="en-US" dirty="0" lang="zh-CN" sz="1200"/>
                  <a:t>侵权成本低、维权成本高，作者难以对抗海量盗版站点[R1]</a:t>
                </a:r>
                <a:endParaRPr dirty="0" lang="en-US"/>
              </a:p>
            </p:txBody>
          </p:sp>
          <p:sp>
            <p:nvSpPr>
              <p:cNvPr descr="1e30e715-ee0e-4475-91ff-5dfe22aa3b94" id="76" name="Bullet2">
                <a:extLst>
                  <a:ext uri="{FF2B5EF4-FFF2-40B4-BE49-F238E27FC236}">
                    <a16:creationId id="{E22AAC75-30F7-ECC9-EB61-07F56E605632}"/>
                  </a:ext>
                </a:extLst>
              </p:cNvPr>
              <p:cNvSpPr txBox="1"/>
              <p:nvPr/>
            </p:nvSpPr>
            <p:spPr>
              <a:xfrm>
                <a:off x="660400" y="3036570"/>
                <a:ext cx="4579257" cy="458781"/>
              </a:xfrm>
              <a:prstGeom prst="rect">
                <a:avLst/>
              </a:prstGeom>
              <a:noFill/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/>
                <a:r>
                  <a:rPr altLang="en-US" b="1" dirty="0" lang="zh-CN"/>
                  <a:t>网络文学盗版规模年超50亿元，正版市场仅1亿多元</a:t>
                </a:r>
                <a:endParaRPr dirty="0" lang="en-US"/>
              </a:p>
            </p:txBody>
          </p:sp>
        </p:grpSp>
        <p:grpSp>
          <p:nvGrpSpPr>
            <p:cNvPr descr="bc46ace2-242b-4d26-a1d9-1d523d2bdae8" id="87" name="组合 86">
              <a:extLst>
                <a:ext uri="{FF2B5EF4-FFF2-40B4-BE49-F238E27FC236}">
                  <a16:creationId id="{D21770CF-1D9A-859D-9981-F9EF42A9E1BD}"/>
                </a:ext>
              </a:extLst>
            </p:cNvPr>
            <p:cNvGrpSpPr/>
            <p:nvPr/>
          </p:nvGrpSpPr>
          <p:grpSpPr>
            <a:xfrm>
              <a:off x="6939643" y="1963420"/>
              <a:ext cx="4579257" cy="2041996"/>
              <a:chOff x="6939643" y="1963420"/>
              <a:chExt cx="4579257" cy="2041996"/>
            </a:xfrm>
          </p:grpSpPr>
          <p:sp>
            <p:nvSpPr>
              <p:cNvPr descr="9d9d4a2a-95bc-40e2-b91f-09561b5ff666" id="82" name="Text3">
                <a:extLst>
                  <a:ext uri="{FF2B5EF4-FFF2-40B4-BE49-F238E27FC236}">
                    <a16:creationId id="{733F2A8E-36C7-A592-B17C-9E74ECDAAA9F}"/>
                  </a:ext>
                </a:extLst>
              </p:cNvPr>
              <p:cNvSpPr txBox="1"/>
              <p:nvPr/>
            </p:nvSpPr>
            <p:spPr>
              <a:xfrm>
                <a:off x="6939643" y="2422201"/>
                <a:ext cx="4579257" cy="1583215"/>
              </a:xfrm>
              <a:prstGeom prst="rect">
                <a:avLst/>
              </a:prstGeom>
              <a:noFill/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altLang="en-US" dirty="0" lang="zh-CN" sz="1200"/>
                  <a:t>用户通过搜索获取盗文，平台因缺乏主动审查义务而规避责任[R1]</a:t>
                </a:r>
                <a:endParaRPr dirty="0" lang="en-US"/>
              </a:p>
            </p:txBody>
          </p:sp>
          <p:sp>
            <p:nvSpPr>
              <p:cNvPr descr="cbb4bbcc-f0f7-4a71-84e3-f9667427ea35" id="83" name="Bullet3">
                <a:extLst>
                  <a:ext uri="{FF2B5EF4-FFF2-40B4-BE49-F238E27FC236}">
                    <a16:creationId id="{EA7FBC8C-A67C-C8CC-69A8-2FEE2A80D966}"/>
                  </a:ext>
                </a:extLst>
              </p:cNvPr>
              <p:cNvSpPr txBox="1"/>
              <p:nvPr/>
            </p:nvSpPr>
            <p:spPr>
              <a:xfrm>
                <a:off x="6939643" y="1963420"/>
                <a:ext cx="4579257" cy="458781"/>
              </a:xfrm>
              <a:prstGeom prst="rect">
                <a:avLst/>
              </a:prstGeom>
              <a:noFill/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/>
                <a:r>
                  <a:rPr altLang="en-US" b="1" dirty="0" lang="zh-CN"/>
                  <a:t>搜索引擎成盗版内容主要传播渠道</a:t>
                </a:r>
                <a:endParaRPr dirty="0" lang="en-US"/>
              </a:p>
            </p:txBody>
          </p:sp>
        </p:grpSp>
        <p:grpSp>
          <p:nvGrpSpPr>
            <p:cNvPr descr="c0421349-df74-44b8-8d67-679b40ecdbd1" id="88" name="组合 87">
              <a:extLst>
                <a:ext uri="{FF2B5EF4-FFF2-40B4-BE49-F238E27FC236}">
                  <a16:creationId id="{ED9EDA6A-8BA4-A70B-D940-17C0E61453B2}"/>
                </a:ext>
              </a:extLst>
            </p:cNvPr>
            <p:cNvGrpSpPr/>
            <p:nvPr/>
          </p:nvGrpSpPr>
          <p:grpSpPr>
            <a:xfrm>
              <a:off x="6939643" y="4092104"/>
              <a:ext cx="4579257" cy="2041996"/>
              <a:chOff x="6939643" y="3036570"/>
              <a:chExt cx="4579257" cy="2041996"/>
            </a:xfrm>
          </p:grpSpPr>
          <p:sp>
            <p:nvSpPr>
              <p:cNvPr descr="d9bd8199-2e63-408f-808c-219e5c3ff8b8" id="77" name="Text4">
                <a:extLst>
                  <a:ext uri="{FF2B5EF4-FFF2-40B4-BE49-F238E27FC236}">
                    <a16:creationId id="{B75648AB-BBD0-FF17-18B7-613A44F3A3C1}"/>
                  </a:ext>
                </a:extLst>
              </p:cNvPr>
              <p:cNvSpPr txBox="1"/>
              <p:nvPr/>
            </p:nvSpPr>
            <p:spPr>
              <a:xfrm>
                <a:off x="6939643" y="3495351"/>
                <a:ext cx="4579257" cy="1583215"/>
              </a:xfrm>
              <a:prstGeom prst="rect">
                <a:avLst/>
              </a:prstGeom>
              <a:noFill/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altLang="en-US" dirty="0" lang="zh-CN" sz="1200"/>
                  <a:t>司法实践中个别法院将其误作归责原则，导致平台责任过轻[R7]</a:t>
                </a:r>
                <a:endParaRPr dirty="0" lang="en-US"/>
              </a:p>
            </p:txBody>
          </p:sp>
          <p:sp>
            <p:nvSpPr>
              <p:cNvPr descr="9ca1d05b-2a57-4681-a08a-f6bc285b8b0a" id="78" name="Bullet4">
                <a:extLst>
                  <a:ext uri="{FF2B5EF4-FFF2-40B4-BE49-F238E27FC236}">
                    <a16:creationId id="{B9A5EF23-F8A5-E6CF-CD4C-BB05A136D0A1}"/>
                  </a:ext>
                </a:extLst>
              </p:cNvPr>
              <p:cNvSpPr txBox="1"/>
              <p:nvPr/>
            </p:nvSpPr>
            <p:spPr>
              <a:xfrm>
                <a:off x="6939643" y="3036570"/>
                <a:ext cx="4579257" cy="458781"/>
              </a:xfrm>
              <a:prstGeom prst="rect">
                <a:avLst/>
              </a:prstGeom>
              <a:noFill/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/>
                <a:r>
                  <a:rPr altLang="en-US" b="1" dirty="0" lang="zh-CN"/>
                  <a:t>“避风港原则”被过度适用，削弱权利人保护</a:t>
                </a:r>
                <a:endParaRPr dirty="0" lang="en-US"/>
              </a:p>
            </p:txBody>
          </p:sp>
        </p:grpSp>
        <p:sp>
          <p:nvSpPr>
            <p:cNvPr descr="55b24b21-094d-492d-84f3-ee0ccfff36f3" id="97" name="Title">
              <a:extLst>
                <a:ext uri="{FF2B5EF4-FFF2-40B4-BE49-F238E27FC236}">
                  <a16:creationId id="{DDED79A5-8CE2-90F6-28D8-7CFA44903B5B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533400"/>
            </a:xfrm>
            <a:prstGeom prst="rect">
              <a:avLst/>
            </a:prstGeom>
            <a:noFill/>
          </p:spPr>
          <p:txBody>
            <a:bodyPr anchor="ctr" anchorCtr="0" rtlCol="0" vert="horz" wrap="square">
              <a:normAutofit/>
            </a:bodyPr>
            <a:lstStyle/>
            <a:p>
              <a:pPr/>
              <a:r>
                <a:rPr altLang="en-US" b="1" dirty="0" lang="zh-CN" sz="2400"/>
                <a:t>“避风港”沦为“安全港”的治理困境</a:t>
              </a:r>
              <a:endParaRPr dirty="0" 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技术防范措施</a:t>
            </a:r>
            <a:endParaRPr dirty="0" lang="en-US"/>
          </a:p>
        </p:txBody>
      </p:sp>
      <p:grpSp>
        <p:nvGrpSpPr>
          <p:cNvPr descr="22f57fe2-313f-40fe-be53-75ec75f12740" id="3" name="18d68481-2061-4094-8df5-87c5d1a3202d.source.4.zh-Hans.pptx">
            <a:extLst>
              <a:ext uri="{FF2B5EF4-FFF2-40B4-BE49-F238E27FC236}">
                <a16:creationId id="{FCE83ECC-DD71-391B-EC8C-EE8A2FB14596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descr="cce0d4b6-754d-496a-a24a-b96f5f1645ed" id="59" name="直接连接符 58">
              <a:extLst>
                <a:ext uri="{FF2B5EF4-FFF2-40B4-BE49-F238E27FC236}">
                  <a16:creationId id="{B50A4757-F344-2372-1D7A-337037507C8F}"/>
                </a:ext>
              </a:extLst>
            </p:cNvPr>
            <p:cNvCxnSpPr>
              <a:cxnSpLocks/>
            </p:cNvCxnSpPr>
            <p:nvPr/>
          </p:nvCxnSpPr>
          <p:spPr>
            <a:xfrm>
              <a:off x="6089650" y="1977390"/>
              <a:ext cx="0" cy="415671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bb9306e0-46d5-425a-8899-285fc3cd3fa9" id="79" name="IconMisc1">
              <a:extLst>
                <a:ext uri="{FF2B5EF4-FFF2-40B4-BE49-F238E27FC236}">
                  <a16:creationId id="{03C9BF79-2FEB-2095-05EB-4F005B9830DA}"/>
                </a:ext>
              </a:extLst>
            </p:cNvPr>
            <p:cNvSpPr/>
            <p:nvPr/>
          </p:nvSpPr>
          <p:spPr>
            <a:xfrm>
              <a:off x="5850413" y="1963419"/>
              <a:ext cx="471011" cy="471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19679" w="19679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bg1">
                <a:lumMod val="100000"/>
              </a:schemeClr>
            </a:solidFill>
            <a:ln w="6350">
              <a:solidFill>
                <a:schemeClr val="accent1"/>
              </a:solidFill>
              <a:miter lim="400000"/>
            </a:ln>
          </p:spPr>
          <p:txBody>
            <a:bodyPr anchor="ctr" bIns="45720" lIns="91440" rIns="91440" tIns="45720" wrap="none">
              <a:normAutofit/>
            </a:bodyPr>
            <a:lstStyle/>
            <a:p>
              <a:pPr algn="ctr"/>
              <a:r>
                <a:rPr b="1" dirty="0" lang="en-US" sz="1400"/>
                <a:t>1</a:t>
              </a:r>
              <a:endParaRPr b="1" dirty="0" sz="1400"/>
            </a:p>
          </p:txBody>
        </p:sp>
        <p:sp>
          <p:nvSpPr>
            <p:cNvPr descr="f4659a09-2d43-4631-8b2d-a60e90a4ad4f" id="74" name="IconMisc2">
              <a:extLst>
                <a:ext uri="{FF2B5EF4-FFF2-40B4-BE49-F238E27FC236}">
                  <a16:creationId id="{719615ED-7EE4-0879-EDF0-542BCE3E71D2}"/>
                </a:ext>
              </a:extLst>
            </p:cNvPr>
            <p:cNvSpPr/>
            <p:nvPr/>
          </p:nvSpPr>
          <p:spPr>
            <a:xfrm>
              <a:off x="5850413" y="4092103"/>
              <a:ext cx="471011" cy="471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19679" w="19679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bg1">
                <a:lumMod val="100000"/>
              </a:schemeClr>
            </a:solidFill>
            <a:ln w="6350">
              <a:solidFill>
                <a:schemeClr val="accent1"/>
              </a:solidFill>
              <a:miter lim="400000"/>
            </a:ln>
          </p:spPr>
          <p:txBody>
            <a:bodyPr anchor="ctr" bIns="45720" lIns="91440" rIns="91440" tIns="45720" wrap="none">
              <a:normAutofit/>
            </a:bodyPr>
            <a:lstStyle/>
            <a:p>
              <a:pPr algn="ctr"/>
              <a:r>
                <a:rPr b="1" dirty="0" lang="en-US" sz="1400"/>
                <a:t>2</a:t>
              </a:r>
              <a:endParaRPr b="1" dirty="0" sz="1400"/>
            </a:p>
          </p:txBody>
        </p:sp>
        <p:grpSp>
          <p:nvGrpSpPr>
            <p:cNvPr descr="536e5485-9112-4a83-881d-aab1395e1a29" id="89" name="组合 88">
              <a:extLst>
                <a:ext uri="{FF2B5EF4-FFF2-40B4-BE49-F238E27FC236}">
                  <a16:creationId id="{0DAF0FC7-C607-D822-9D5F-EE4CF7F85A43}"/>
                </a:ext>
              </a:extLst>
            </p:cNvPr>
            <p:cNvGrpSpPr/>
            <p:nvPr/>
          </p:nvGrpSpPr>
          <p:grpSpPr>
            <a:xfrm>
              <a:off x="660400" y="1963420"/>
              <a:ext cx="4579257" cy="2041996"/>
              <a:chOff x="660400" y="1963420"/>
              <a:chExt cx="4579257" cy="2041996"/>
            </a:xfrm>
          </p:grpSpPr>
          <p:sp>
            <p:nvSpPr>
              <p:cNvPr descr="9141dedc-145d-41ed-b6d3-061de5f2efee" id="80" name="Text1">
                <a:extLst>
                  <a:ext uri="{FF2B5EF4-FFF2-40B4-BE49-F238E27FC236}">
                    <a16:creationId id="{3BB905EF-FD4A-1FD4-83F3-B29A2F96BF95}"/>
                  </a:ext>
                </a:extLst>
              </p:cNvPr>
              <p:cNvSpPr txBox="1"/>
              <p:nvPr/>
            </p:nvSpPr>
            <p:spPr>
              <a:xfrm>
                <a:off x="660400" y="2422201"/>
                <a:ext cx="4579257" cy="1583215"/>
              </a:xfrm>
              <a:prstGeom prst="rect">
                <a:avLst/>
              </a:prstGeom>
              <a:noFill/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altLang="en-US" dirty="0" lang="zh-CN" sz="1200"/>
                  <a:t>机器审核拦截9125万条，人工审核1.73亿条，证明技术过滤可行[R8]</a:t>
                </a:r>
                <a:endParaRPr dirty="0" lang="en-US"/>
              </a:p>
            </p:txBody>
          </p:sp>
          <p:sp>
            <p:nvSpPr>
              <p:cNvPr descr="a8af2596-3965-4806-945c-37976d85c503" id="81" name="Bullet1">
                <a:extLst>
                  <a:ext uri="{FF2B5EF4-FFF2-40B4-BE49-F238E27FC236}">
                    <a16:creationId id="{4993360A-4C32-8EDA-EFD3-6BA3A46EC7AF}"/>
                  </a:ext>
                </a:extLst>
              </p:cNvPr>
              <p:cNvSpPr txBox="1"/>
              <p:nvPr/>
            </p:nvSpPr>
            <p:spPr>
              <a:xfrm>
                <a:off x="660400" y="1963420"/>
                <a:ext cx="4579257" cy="458781"/>
              </a:xfrm>
              <a:prstGeom prst="rect">
                <a:avLst/>
              </a:prstGeom>
              <a:noFill/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/>
                <a:r>
                  <a:rPr altLang="en-US" b="1" dirty="0" lang="zh-CN"/>
                  <a:t>抖音《新鲜出炉》显示拦截违规视频超2.64亿条</a:t>
                </a:r>
                <a:endParaRPr dirty="0" lang="en-US"/>
              </a:p>
            </p:txBody>
          </p:sp>
        </p:grpSp>
        <p:grpSp>
          <p:nvGrpSpPr>
            <p:cNvPr descr="9f116d12-f941-45bf-b15f-2a6c78cbbb27" id="90" name="组合 89">
              <a:extLst>
                <a:ext uri="{FF2B5EF4-FFF2-40B4-BE49-F238E27FC236}">
                  <a16:creationId id="{E6D5AD45-C73C-29F1-EEA6-D5CD00E7D870}"/>
                </a:ext>
              </a:extLst>
            </p:cNvPr>
            <p:cNvGrpSpPr/>
            <p:nvPr/>
          </p:nvGrpSpPr>
          <p:grpSpPr>
            <a:xfrm>
              <a:off x="660400" y="4092104"/>
              <a:ext cx="4579257" cy="2041996"/>
              <a:chOff x="660400" y="3036570"/>
              <a:chExt cx="4579257" cy="2041996"/>
            </a:xfrm>
          </p:grpSpPr>
          <p:sp>
            <p:nvSpPr>
              <p:cNvPr descr="1f639a13-82f7-4116-bb97-fe3c887d13ae" id="75" name="Text2">
                <a:extLst>
                  <a:ext uri="{FF2B5EF4-FFF2-40B4-BE49-F238E27FC236}">
                    <a16:creationId id="{6839AEDF-449A-9DCD-6E46-332CA24221E0}"/>
                  </a:ext>
                </a:extLst>
              </p:cNvPr>
              <p:cNvSpPr txBox="1"/>
              <p:nvPr/>
            </p:nvSpPr>
            <p:spPr>
              <a:xfrm>
                <a:off x="660400" y="3495351"/>
                <a:ext cx="4579257" cy="1583215"/>
              </a:xfrm>
              <a:prstGeom prst="rect">
                <a:avLst/>
              </a:prstGeom>
              <a:noFill/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altLang="en-US" dirty="0" lang="zh-CN" sz="1200"/>
                  <a:t>接到200余次通知、涉及2.3万条链接后，应知侵权普遍存在[R8]</a:t>
                </a:r>
                <a:endParaRPr dirty="0" lang="en-US"/>
              </a:p>
            </p:txBody>
          </p:sp>
          <p:sp>
            <p:nvSpPr>
              <p:cNvPr descr="1e30e715-ee0e-4475-91ff-5dfe22aa3b94" id="76" name="Bullet2">
                <a:extLst>
                  <a:ext uri="{FF2B5EF4-FFF2-40B4-BE49-F238E27FC236}">
                    <a16:creationId id="{E22AAC75-30F7-ECC9-EB61-07F56E605632}"/>
                  </a:ext>
                </a:extLst>
              </p:cNvPr>
              <p:cNvSpPr txBox="1"/>
              <p:nvPr/>
            </p:nvSpPr>
            <p:spPr>
              <a:xfrm>
                <a:off x="660400" y="3036570"/>
                <a:ext cx="4579257" cy="458781"/>
              </a:xfrm>
              <a:prstGeom prst="rect">
                <a:avLst/>
              </a:prstGeom>
              <a:noFill/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/>
                <a:r>
                  <a:rPr altLang="en-US" b="1" dirty="0" lang="zh-CN"/>
                  <a:t>“斗罗大陆”案法院认定平台具备侵权识别能力</a:t>
                </a:r>
                <a:endParaRPr dirty="0" lang="en-US"/>
              </a:p>
            </p:txBody>
          </p:sp>
        </p:grpSp>
        <p:grpSp>
          <p:nvGrpSpPr>
            <p:cNvPr descr="bc46ace2-242b-4d26-a1d9-1d523d2bdae8" id="87" name="组合 86">
              <a:extLst>
                <a:ext uri="{FF2B5EF4-FFF2-40B4-BE49-F238E27FC236}">
                  <a16:creationId id="{D21770CF-1D9A-859D-9981-F9EF42A9E1BD}"/>
                </a:ext>
              </a:extLst>
            </p:cNvPr>
            <p:cNvGrpSpPr/>
            <p:nvPr/>
          </p:nvGrpSpPr>
          <p:grpSpPr>
            <a:xfrm>
              <a:off x="6939643" y="1963420"/>
              <a:ext cx="4579257" cy="2041996"/>
              <a:chOff x="6939643" y="1963420"/>
              <a:chExt cx="4579257" cy="2041996"/>
            </a:xfrm>
          </p:grpSpPr>
          <p:sp>
            <p:nvSpPr>
              <p:cNvPr descr="9d9d4a2a-95bc-40e2-b91f-09561b5ff666" id="82" name="Text3">
                <a:extLst>
                  <a:ext uri="{FF2B5EF4-FFF2-40B4-BE49-F238E27FC236}">
                    <a16:creationId id="{733F2A8E-36C7-A592-B17C-9E74ECDAAA9F}"/>
                  </a:ext>
                </a:extLst>
              </p:cNvPr>
              <p:cNvSpPr txBox="1"/>
              <p:nvPr/>
            </p:nvSpPr>
            <p:spPr>
              <a:xfrm>
                <a:off x="6939643" y="2422201"/>
                <a:ext cx="4579257" cy="1583215"/>
              </a:xfrm>
              <a:prstGeom prst="rect">
                <a:avLst/>
              </a:prstGeom>
              <a:noFill/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altLang="en-US" dirty="0" lang="zh-CN" sz="1200"/>
                  <a:t>平台可基于特征码、文本比对等技术主动拦截重复侵权内容[R8]</a:t>
                </a:r>
                <a:endParaRPr dirty="0" lang="en-US"/>
              </a:p>
            </p:txBody>
          </p:sp>
          <p:sp>
            <p:nvSpPr>
              <p:cNvPr descr="cbb4bbcc-f0f7-4a71-84e3-f9667427ea35" id="83" name="Bullet3">
                <a:extLst>
                  <a:ext uri="{FF2B5EF4-FFF2-40B4-BE49-F238E27FC236}">
                    <a16:creationId id="{EA7FBC8C-A67C-C8CC-69A8-2FEE2A80D966}"/>
                  </a:ext>
                </a:extLst>
              </p:cNvPr>
              <p:cNvSpPr txBox="1"/>
              <p:nvPr/>
            </p:nvSpPr>
            <p:spPr>
              <a:xfrm>
                <a:off x="6939643" y="1963420"/>
                <a:ext cx="4579257" cy="458781"/>
              </a:xfrm>
              <a:prstGeom prst="rect">
                <a:avLst/>
              </a:prstGeom>
              <a:noFill/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/>
                <a:r>
                  <a:rPr altLang="en-US" b="1" dirty="0" lang="zh-CN"/>
                  <a:t>内容指纹识别与AI审核成主流防控手段</a:t>
                </a:r>
                <a:endParaRPr dirty="0" lang="en-US"/>
              </a:p>
            </p:txBody>
          </p:sp>
        </p:grpSp>
        <p:grpSp>
          <p:nvGrpSpPr>
            <p:cNvPr descr="c0421349-df74-44b8-8d67-679b40ecdbd1" id="88" name="组合 87">
              <a:extLst>
                <a:ext uri="{FF2B5EF4-FFF2-40B4-BE49-F238E27FC236}">
                  <a16:creationId id="{ED9EDA6A-8BA4-A70B-D940-17C0E61453B2}"/>
                </a:ext>
              </a:extLst>
            </p:cNvPr>
            <p:cNvGrpSpPr/>
            <p:nvPr/>
          </p:nvGrpSpPr>
          <p:grpSpPr>
            <a:xfrm>
              <a:off x="6939643" y="4092104"/>
              <a:ext cx="4579257" cy="2041996"/>
              <a:chOff x="6939643" y="3036570"/>
              <a:chExt cx="4579257" cy="2041996"/>
            </a:xfrm>
          </p:grpSpPr>
          <p:sp>
            <p:nvSpPr>
              <p:cNvPr descr="d9bd8199-2e63-408f-808c-219e5c3ff8b8" id="77" name="Text4">
                <a:extLst>
                  <a:ext uri="{FF2B5EF4-FFF2-40B4-BE49-F238E27FC236}">
                    <a16:creationId id="{B75648AB-BBD0-FF17-18B7-613A44F3A3C1}"/>
                  </a:ext>
                </a:extLst>
              </p:cNvPr>
              <p:cNvSpPr txBox="1"/>
              <p:nvPr/>
            </p:nvSpPr>
            <p:spPr>
              <a:xfrm>
                <a:off x="6939643" y="3495351"/>
                <a:ext cx="4579257" cy="1583215"/>
              </a:xfrm>
              <a:prstGeom prst="rect">
                <a:avLst/>
              </a:prstGeom>
              <a:noFill/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altLang="en-US" dirty="0" lang="zh-CN" sz="1200"/>
                  <a:t>具备过滤能力却未有效应用，可能被认定为“明知或应知”侵权[R8]</a:t>
                </a:r>
                <a:endParaRPr dirty="0" lang="en-US"/>
              </a:p>
            </p:txBody>
          </p:sp>
          <p:sp>
            <p:nvSpPr>
              <p:cNvPr descr="9ca1d05b-2a57-4681-a08a-f6bc285b8b0a" id="78" name="Bullet4">
                <a:extLst>
                  <a:ext uri="{FF2B5EF4-FFF2-40B4-BE49-F238E27FC236}">
                    <a16:creationId id="{B9A5EF23-F8A5-E6CF-CD4C-BB05A136D0A1}"/>
                  </a:ext>
                </a:extLst>
              </p:cNvPr>
              <p:cNvSpPr txBox="1"/>
              <p:nvPr/>
            </p:nvSpPr>
            <p:spPr>
              <a:xfrm>
                <a:off x="6939643" y="3036570"/>
                <a:ext cx="4579257" cy="458781"/>
              </a:xfrm>
              <a:prstGeom prst="rect">
                <a:avLst/>
              </a:prstGeom>
              <a:noFill/>
            </p:spPr>
            <p:txBody>
              <a:bodyPr anchor="ctr" anchorCtr="0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/>
                <a:r>
                  <a:rPr altLang="en-US" b="1" dirty="0" lang="zh-CN"/>
                  <a:t>技术能力成为判断“应知”的关键依据</a:t>
                </a:r>
                <a:endParaRPr dirty="0" lang="en-US"/>
              </a:p>
            </p:txBody>
          </p:sp>
        </p:grpSp>
        <p:sp>
          <p:nvSpPr>
            <p:cNvPr descr="55b24b21-094d-492d-84f3-ee0ccfff36f3" id="97" name="Title">
              <a:extLst>
                <a:ext uri="{FF2B5EF4-FFF2-40B4-BE49-F238E27FC236}">
                  <a16:creationId id="{DDED79A5-8CE2-90F6-28D8-7CFA44903B5B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533400"/>
            </a:xfrm>
            <a:prstGeom prst="rect">
              <a:avLst/>
            </a:prstGeom>
            <a:noFill/>
          </p:spPr>
          <p:txBody>
            <a:bodyPr anchor="ctr" anchorCtr="0" rtlCol="0" vert="horz" wrap="square">
              <a:normAutofit/>
            </a:bodyPr>
            <a:lstStyle/>
            <a:p>
              <a:pPr/>
              <a:r>
                <a:rPr altLang="en-US" b="1" dirty="0" lang="zh-CN" sz="2400"/>
                <a:t>平台主动治理能力与义务的提升</a:t>
              </a:r>
              <a:endParaRPr dirty="0" 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责任强化趋势</a:t>
            </a:r>
            <a:endParaRPr dirty="0" lang="en-US"/>
          </a:p>
        </p:txBody>
      </p:sp>
      <p:grpSp>
        <p:nvGrpSpPr>
          <p:cNvPr descr="bc63a27b-1aea-41c2-b738-40b47447c723" id="19" name="6d649ebf-74bc-446c-add3-cfd664cd660c.source.4.zh-Hans.pptx">
            <a:extLst>
              <a:ext uri="{FF2B5EF4-FFF2-40B4-BE49-F238E27FC236}">
                <a16:creationId id="{B972CB9C-69FD-4F3E-2B55-40A2E42FBC4D}"/>
              </a:ext>
            </a:extLst>
          </p:cNvPr>
          <p:cNvGrpSpPr/>
          <p:nvPr/>
        </p:nvGrpSpPr>
        <p:grpSpPr>
          <a:xfrm>
            <a:off x="1" y="1130300"/>
            <a:ext cx="12191999" cy="5727700"/>
            <a:chOff x="1" y="1130300"/>
            <a:chExt cx="12191999" cy="5727700"/>
          </a:xfrm>
        </p:grpSpPr>
        <p:sp>
          <p:nvSpPr>
            <p:cNvPr descr="76545929-59d3-4aa2-81bb-bebddd1ac78c" id="65" name="PictureMisc1">
              <a:extLst>
                <a:ext uri="{FF2B5EF4-FFF2-40B4-BE49-F238E27FC236}">
                  <a16:creationId id="{92FA0352-0E50-9635-3508-898067E8C522}"/>
                </a:ext>
              </a:extLst>
            </p:cNvPr>
            <p:cNvSpPr/>
            <p:nvPr/>
          </p:nvSpPr>
          <p:spPr>
            <a:xfrm>
              <a:off x="1" y="4454604"/>
              <a:ext cx="12191999" cy="2403396"/>
            </a:xfrm>
            <a:prstGeom prst="rect">
              <a:avLst/>
            </a:prstGeom>
            <a:blipFill>
              <a:blip r:embed="rId4"/>
              <a:srcRect/>
              <a:stretch>
                <a:fillRect b="-184535" t="-534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descr="484d7e61-108f-43c4-98e9-2b7b5d290acf" id="10" name="c">
              <a:extLst>
                <a:ext uri="{FF2B5EF4-FFF2-40B4-BE49-F238E27FC236}">
                  <a16:creationId id="{F56D314E-A994-AFA6-44B8-9D0B2E3323B4}"/>
                </a:ext>
              </a:extLst>
            </p:cNvPr>
            <p:cNvSpPr/>
            <p:nvPr/>
          </p:nvSpPr>
          <p:spPr>
            <a:xfrm>
              <a:off x="598591" y="1824048"/>
              <a:ext cx="10994819" cy="4310052"/>
            </a:xfrm>
            <a:prstGeom prst="roundRect">
              <a:avLst>
                <a:gd fmla="val 3015" name="adj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none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altLang="en-US" b="1" lang="zh-CN">
                <a:solidFill>
                  <a:srgbClr val="000000"/>
                </a:solidFill>
              </a:endParaRPr>
            </a:p>
          </p:txBody>
        </p:sp>
        <p:cxnSp>
          <p:nvCxnSpPr>
            <p:cNvPr descr="2cfc25a7-b2b4-4450-a953-09bf16f26ca8" id="265" name="直接连接符 264">
              <a:extLst>
                <a:ext uri="{FF2B5EF4-FFF2-40B4-BE49-F238E27FC236}">
                  <a16:creationId id="{386558A4-4A7F-BBC6-D808-847A9CE54B20}"/>
                </a:ext>
              </a:extLst>
            </p:cNvPr>
            <p:cNvCxnSpPr>
              <a:cxnSpLocks/>
              <a:stCxn id="246" idx="1"/>
              <a:endCxn id="242" idx="3"/>
            </p:cNvCxnSpPr>
            <p:nvPr/>
          </p:nvCxnSpPr>
          <p:spPr>
            <a:xfrm>
              <a:off x="3651730" y="4176507"/>
              <a:ext cx="476252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a048549a-49c2-4bcc-aecb-b7c95fc9d311" id="226" name="直接连接符 225">
              <a:extLst>
                <a:ext uri="{FF2B5EF4-FFF2-40B4-BE49-F238E27FC236}">
                  <a16:creationId id="{089D57E8-414E-A9C3-5C3B-AC95F54832E4}"/>
                </a:ext>
              </a:extLst>
            </p:cNvPr>
            <p:cNvCxnSpPr>
              <a:cxnSpLocks/>
              <a:stCxn id="72" idx="3"/>
              <a:endCxn id="76" idx="1"/>
            </p:cNvCxnSpPr>
            <p:nvPr/>
          </p:nvCxnSpPr>
          <p:spPr>
            <a:xfrm>
              <a:off x="3771398" y="2158127"/>
              <a:ext cx="475617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611681a0-af0c-4c33-94eb-2a4d6841d92e" id="158" name="Title">
              <a:extLst>
                <a:ext uri="{FF2B5EF4-FFF2-40B4-BE49-F238E27FC236}">
                  <a16:creationId id="{A6537433-AFB1-209E-D1F0-14119DF67503}"/>
                </a:ext>
              </a:extLst>
            </p:cNvPr>
            <p:cNvSpPr>
              <a:spLocks/>
            </p:cNvSpPr>
            <p:nvPr/>
          </p:nvSpPr>
          <p:spPr>
            <a:xfrm>
              <a:off x="660399" y="1130300"/>
              <a:ext cx="10858500" cy="60809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square">
              <a:normAutofit/>
            </a:bodyPr>
            <a:lstStyle/>
            <a:p>
              <a:pPr/>
              <a:r>
                <a:rPr altLang="en-US" b="1" dirty="0" lang="zh-CN" sz="2400">
                  <a:solidFill>
                    <a:schemeClr val="tx1"/>
                  </a:solidFill>
                </a:rPr>
                <a:t>从被动免责到主动履责的法律演进</a:t>
              </a:r>
              <a:endParaRPr dirty="0" lang="en-US"/>
            </a:p>
          </p:txBody>
        </p:sp>
        <p:grpSp>
          <p:nvGrpSpPr>
            <p:cNvPr descr="3f65857c-32bb-415a-944c-5fe257b38d86" id="15" name="组合 14">
              <a:extLst>
                <a:ext uri="{FF2B5EF4-FFF2-40B4-BE49-F238E27FC236}">
                  <a16:creationId id="{80DB1690-6CCE-416B-EA33-5689E5992220}"/>
                </a:ext>
              </a:extLst>
            </p:cNvPr>
            <p:cNvGrpSpPr/>
            <p:nvPr/>
          </p:nvGrpSpPr>
          <p:grpSpPr>
            <a:xfrm>
              <a:off x="666750" y="2008394"/>
              <a:ext cx="5306495" cy="1985305"/>
              <a:chOff x="666750" y="2008394"/>
              <a:chExt cx="5306495" cy="1985305"/>
            </a:xfrm>
          </p:grpSpPr>
          <p:sp>
            <p:nvSpPr>
              <p:cNvPr descr="e2f241c9-a8da-4eb6-98de-5d61df4cce37" id="95" name="Bullet1">
                <a:extLst>
                  <a:ext uri="{FF2B5EF4-FFF2-40B4-BE49-F238E27FC236}">
                    <a16:creationId id="{D13275F6-86BF-97B0-4E00-8B47AD1DB6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《民法典》第1197条确立“红旗标准”为连带责任依据</a:t>
                </a:r>
                <a:endParaRPr dirty="0" lang="en-US"/>
              </a:p>
            </p:txBody>
          </p:sp>
          <p:sp>
            <p:nvSpPr>
              <p:cNvPr descr="c359a770-2cff-4206-8a30-a5fd8edda037" id="96" name="Text1">
                <a:extLst>
                  <a:ext uri="{FF2B5EF4-FFF2-40B4-BE49-F238E27FC236}">
                    <a16:creationId id="{091B1D94-0E38-DF07-400C-BE758614BE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平台知道或应当知道侵权未采取措施，即与用户承担连带责任[R8]</a:t>
                </a:r>
                <a:endParaRPr dirty="0" lang="en-US"/>
              </a:p>
            </p:txBody>
          </p:sp>
          <p:sp>
            <p:nvSpPr>
              <p:cNvPr descr="255f2870-45c2-4287-a592-893c43290bde" id="72" name="Number1">
                <a:extLst>
                  <a:ext uri="{FF2B5EF4-FFF2-40B4-BE49-F238E27FC236}">
                    <a16:creationId id="{FD5D109E-2EE1-DCF6-C841-46514A95FF2A}"/>
                  </a:ext>
                </a:extLst>
              </p:cNvPr>
              <p:cNvSpPr txBox="1"/>
              <p:nvPr/>
            </p:nvSpPr>
            <p:spPr>
              <a:xfrm>
                <a:off x="2868596" y="200839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altLang="zh-CN" dirty="0" lang="it-IT" sz="1200">
                    <a:sym typeface="+mn-lt"/>
                  </a:rPr>
                  <a:t>1</a:t>
                </a:r>
                <a:endParaRPr altLang="en-US" dirty="0" lang="zh-CN" sz="1200">
                  <a:sym typeface="+mn-lt"/>
                </a:endParaRPr>
              </a:p>
            </p:txBody>
          </p:sp>
        </p:grpSp>
        <p:grpSp>
          <p:nvGrpSpPr>
            <p:cNvPr descr="dfa82fcc-b181-4326-940a-836376470a02" id="16" name="组合 15">
              <a:extLst>
                <a:ext uri="{FF2B5EF4-FFF2-40B4-BE49-F238E27FC236}">
                  <a16:creationId id="{4D88D745-146E-9397-0253-37C83D13827D}"/>
                </a:ext>
              </a:extLst>
            </p:cNvPr>
            <p:cNvGrpSpPr/>
            <p:nvPr/>
          </p:nvGrpSpPr>
          <p:grpSpPr>
            <a:xfrm>
              <a:off x="6212405" y="2008394"/>
              <a:ext cx="5306495" cy="1985305"/>
              <a:chOff x="6212405" y="2008394"/>
              <a:chExt cx="5306495" cy="1985305"/>
            </a:xfrm>
          </p:grpSpPr>
          <p:sp>
            <p:nvSpPr>
              <p:cNvPr descr="6a08fd09-a145-4c4b-b444-a454bb556ebf" id="77" name="Bullet2">
                <a:extLst>
                  <a:ext uri="{FF2B5EF4-FFF2-40B4-BE49-F238E27FC236}">
                    <a16:creationId id="{DD2C7671-234D-B918-3295-0BE3FF84A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从“避风港”到“必要措施”的范式转变</a:t>
                </a:r>
                <a:endParaRPr dirty="0" lang="en-US"/>
              </a:p>
            </p:txBody>
          </p:sp>
          <p:sp>
            <p:nvSpPr>
              <p:cNvPr descr="42f389bd-2862-4909-b280-e8d8bf440bb2" id="78" name="Text2">
                <a:extLst>
                  <a:ext uri="{FF2B5EF4-FFF2-40B4-BE49-F238E27FC236}">
                    <a16:creationId id="{7A949CEF-EE32-0987-41B9-0293F654E8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《民法典》要求平台采取删除、屏蔽、断开链接等必要措施，标准更灵活[R8]</a:t>
                </a:r>
                <a:endParaRPr dirty="0" lang="en-US"/>
              </a:p>
            </p:txBody>
          </p:sp>
          <p:sp>
            <p:nvSpPr>
              <p:cNvPr descr="b1c60640-d9e4-4dc6-9ef5-ad5f7ca361c2" id="76" name="Number2">
                <a:extLst>
                  <a:ext uri="{FF2B5EF4-FFF2-40B4-BE49-F238E27FC236}">
                    <a16:creationId id="{603B63CA-E58B-5211-E789-2933FAB8C84A}"/>
                  </a:ext>
                </a:extLst>
              </p:cNvPr>
              <p:cNvSpPr txBox="1"/>
              <p:nvPr/>
            </p:nvSpPr>
            <p:spPr>
              <a:xfrm>
                <a:off x="8414251" y="200839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altLang="zh-CN" dirty="0" lang="it-IT" sz="1200">
                    <a:sym typeface="+mn-lt"/>
                  </a:rPr>
                  <a:t>2</a:t>
                </a:r>
                <a:endParaRPr altLang="en-US" dirty="0" lang="zh-CN" sz="1200">
                  <a:sym typeface="+mn-lt"/>
                </a:endParaRPr>
              </a:p>
            </p:txBody>
          </p:sp>
        </p:grpSp>
        <p:grpSp>
          <p:nvGrpSpPr>
            <p:cNvPr descr="068a29ca-f1ae-4f48-aed7-04f70498c990" id="17" name="组合 16">
              <a:extLst>
                <a:ext uri="{FF2B5EF4-FFF2-40B4-BE49-F238E27FC236}">
                  <a16:creationId id="{B854465E-9F6B-13A3-A2E8-CF604977B21B}"/>
                </a:ext>
              </a:extLst>
            </p:cNvPr>
            <p:cNvGrpSpPr/>
            <p:nvPr/>
          </p:nvGrpSpPr>
          <p:grpSpPr>
            <a:xfrm>
              <a:off x="6212405" y="4026774"/>
              <a:ext cx="5306495" cy="1985305"/>
              <a:chOff x="6212405" y="4026774"/>
              <a:chExt cx="5306495" cy="1985305"/>
            </a:xfrm>
          </p:grpSpPr>
          <p:sp>
            <p:nvSpPr>
              <p:cNvPr descr="f11a31aa-2df8-40e1-9d08-9e4d02308150" id="240" name="Bullet3">
                <a:extLst>
                  <a:ext uri="{FF2B5EF4-FFF2-40B4-BE49-F238E27FC236}">
                    <a16:creationId id="{3BA143A0-A619-5984-05F6-3580A69A19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444650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盈利模式提升平台注意义务</a:t>
                </a:r>
                <a:endParaRPr dirty="0" lang="en-US"/>
              </a:p>
            </p:txBody>
          </p:sp>
          <p:sp>
            <p:nvSpPr>
              <p:cNvPr descr="3b629dbe-f07e-4768-8a22-1a0128b5540c" id="241" name="Text3">
                <a:extLst>
                  <a:ext uri="{FF2B5EF4-FFF2-40B4-BE49-F238E27FC236}">
                    <a16:creationId id="{1378376A-DE93-9CE0-1221-D6732F8937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510447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若平台从用户内容直接获利，不应适用“避风港”豁免责任[R14]</a:t>
                </a:r>
                <a:endParaRPr dirty="0" lang="en-US"/>
              </a:p>
            </p:txBody>
          </p:sp>
          <p:sp>
            <p:nvSpPr>
              <p:cNvPr descr="cd47b182-dfa2-4b4e-b103-54b06dbe22cc" id="242" name="Number3">
                <a:extLst>
                  <a:ext uri="{FF2B5EF4-FFF2-40B4-BE49-F238E27FC236}">
                    <a16:creationId id="{474D3047-2522-E98F-19EC-32376C80CAD7}"/>
                  </a:ext>
                </a:extLst>
              </p:cNvPr>
              <p:cNvSpPr txBox="1"/>
              <p:nvPr/>
            </p:nvSpPr>
            <p:spPr>
              <a:xfrm flipH="1">
                <a:off x="8414251" y="402677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altLang="zh-CN" dirty="0" lang="it-IT" sz="1200">
                    <a:sym typeface="+mn-lt"/>
                  </a:rPr>
                  <a:t>3</a:t>
                </a:r>
                <a:endParaRPr altLang="en-US" dirty="0" lang="zh-CN" sz="1200">
                  <a:sym typeface="+mn-lt"/>
                </a:endParaRPr>
              </a:p>
            </p:txBody>
          </p:sp>
        </p:grpSp>
        <p:grpSp>
          <p:nvGrpSpPr>
            <p:cNvPr descr="e17b95c0-e3b6-4271-b198-412a8a5c5252" id="18" name="组合 17">
              <a:extLst>
                <a:ext uri="{FF2B5EF4-FFF2-40B4-BE49-F238E27FC236}">
                  <a16:creationId id="{17C1ACC0-F0FC-8680-4C9A-552220759ADE}"/>
                </a:ext>
              </a:extLst>
            </p:cNvPr>
            <p:cNvGrpSpPr/>
            <p:nvPr/>
          </p:nvGrpSpPr>
          <p:grpSpPr>
            <a:xfrm>
              <a:off x="660400" y="4026774"/>
              <a:ext cx="5306495" cy="1985305"/>
              <a:chOff x="660400" y="4026774"/>
              <a:chExt cx="5306495" cy="1985305"/>
            </a:xfrm>
          </p:grpSpPr>
          <p:sp>
            <p:nvSpPr>
              <p:cNvPr descr="191fd3d5-7880-43bc-8b12-cdf85a9c1ccf" id="244" name="Bullet4">
                <a:extLst>
                  <a:ext uri="{FF2B5EF4-FFF2-40B4-BE49-F238E27FC236}">
                    <a16:creationId id="{0A9C89E6-734E-F71D-B3D4-3CADBE0EC4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444650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专家呼吁限制规则滥用，压实平台主体责任</a:t>
                </a:r>
                <a:endParaRPr dirty="0" lang="en-US"/>
              </a:p>
            </p:txBody>
          </p:sp>
          <p:sp>
            <p:nvSpPr>
              <p:cNvPr descr="63de6131-c945-48e9-9bd3-5154bd1731a5" id="245" name="Text4">
                <a:extLst>
                  <a:ext uri="{FF2B5EF4-FFF2-40B4-BE49-F238E27FC236}">
                    <a16:creationId id="{D462368F-0D74-2A31-F6A1-09BCA22784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510447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明确“立即删除”时限，防止拖延；对反复侵权加强主动审查[R7]</a:t>
                </a:r>
                <a:endParaRPr dirty="0" lang="en-US"/>
              </a:p>
            </p:txBody>
          </p:sp>
          <p:sp>
            <p:nvSpPr>
              <p:cNvPr descr="8029407f-181a-4b44-9c13-56537a281725" id="246" name="Number4">
                <a:extLst>
                  <a:ext uri="{FF2B5EF4-FFF2-40B4-BE49-F238E27FC236}">
                    <a16:creationId id="{BCC1BEEA-3A43-54F0-B402-48019087BC6A}"/>
                  </a:ext>
                </a:extLst>
              </p:cNvPr>
              <p:cNvSpPr txBox="1"/>
              <p:nvPr/>
            </p:nvSpPr>
            <p:spPr>
              <a:xfrm flipH="1">
                <a:off x="2862246" y="402677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altLang="zh-CN" dirty="0" lang="it-IT" sz="1200">
                    <a:sym typeface="+mn-lt"/>
                  </a:rPr>
                  <a:t>4</a:t>
                </a:r>
                <a:endParaRPr altLang="en-US" dirty="0" lang="zh-CN" sz="1200"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e432bed3-95bb-4ff9-a468-9817f6fd6cdb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国际趋势</a:t>
            </a:r>
            <a:endParaRPr dirty="0" lang="en-US"/>
          </a:p>
        </p:txBody>
      </p:sp>
      <p:sp>
        <p:nvSpPr>
          <p:cNvPr descr="30ecfc98-2258-43d3-8443-dd7f3d2bb5c9" id="3" name=""/>
          <p:cNvSpPr>
            <a:spLocks noGrp="1"/>
          </p:cNvSpPr>
          <p:nvPr>
            <p:ph hasCustomPrompt="1" idx="1" type="body"/>
          </p:nvPr>
        </p:nvSpPr>
        <p:spPr/>
        <p:txBody>
          <a:bodyPr/>
          <a:lstStyle/>
          <a:p>
            <a:pPr/>
            <a:r>
              <a:rPr altLang="en-US" dirty="0" lang="zh-CN"/>
              <a:t>全球平台责任立法的分化与演进</a:t>
            </a:r>
            <a:endParaRPr dirty="0"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美欧立法模式对比</a:t>
            </a:r>
            <a:endParaRPr dirty="0" lang="en-US"/>
          </a:p>
        </p:txBody>
      </p:sp>
      <p:grpSp>
        <p:nvGrpSpPr>
          <p:cNvPr descr="d86a7928-090e-4a91-9f97-9113ded5a963" id="5" name="e5bed833-6d36-48e3-b086-44f1bd744d82.source.3.zh-Hans.pptx">
            <a:extLst>
              <a:ext uri="{FF2B5EF4-FFF2-40B4-BE49-F238E27FC236}">
                <a16:creationId id="{DF256E6B-2516-2F1D-BAEC-8C2C7A3F9CC4}"/>
              </a:ext>
            </a:extLst>
          </p:cNvPr>
          <p:cNvGrpSpPr/>
          <p:nvPr/>
        </p:nvGrpSpPr>
        <p:grpSpPr>
          <a:xfrm>
            <a:off x="669926" y="1140685"/>
            <a:ext cx="10840233" cy="5717315"/>
            <a:chOff x="669926" y="1140685"/>
            <a:chExt cx="10840233" cy="5717315"/>
          </a:xfrm>
        </p:grpSpPr>
        <p:cxnSp>
          <p:nvCxnSpPr>
            <p:cNvPr descr="8d96d284-e32f-40de-90f5-89aabce34185" id="2" name="直接连接符 1">
              <a:extLst>
                <a:ext uri="{FF2B5EF4-FFF2-40B4-BE49-F238E27FC236}">
                  <a16:creationId id="{C8E0DEA4-E036-5F9A-9BF6-F7DD8476E682}"/>
                </a:ext>
              </a:extLst>
            </p:cNvPr>
            <p:cNvCxnSpPr>
              <a:cxnSpLocks/>
            </p:cNvCxnSpPr>
            <p:nvPr/>
          </p:nvCxnSpPr>
          <p:spPr>
            <a:xfrm>
              <a:off x="778342" y="2676653"/>
              <a:ext cx="6707" cy="4181347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0341a3cf-70ba-43fe-9d08-91076dba23d5" id="3" name="直接连接符 2">
              <a:extLst>
                <a:ext uri="{FF2B5EF4-FFF2-40B4-BE49-F238E27FC236}">
                  <a16:creationId id="{2E4A5556-D61A-357F-34FD-4928E653ECFA}"/>
                </a:ext>
              </a:extLst>
            </p:cNvPr>
            <p:cNvCxnSpPr>
              <a:cxnSpLocks/>
            </p:cNvCxnSpPr>
            <p:nvPr/>
          </p:nvCxnSpPr>
          <p:spPr>
            <a:xfrm>
              <a:off x="778342" y="2676653"/>
              <a:ext cx="6707" cy="4181347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ad404355-d5e0-4ddf-9d21-a7f68e4b6800" id="4" name="Title">
              <a:extLst>
                <a:ext uri="{FF2B5EF4-FFF2-40B4-BE49-F238E27FC236}">
                  <a16:creationId id="{A231E2B7-B2B8-FE04-F95B-74A065197999}"/>
                </a:ext>
              </a:extLst>
            </p:cNvPr>
            <p:cNvSpPr txBox="1"/>
            <p:nvPr/>
          </p:nvSpPr>
          <p:spPr>
            <a:xfrm>
              <a:off x="669926" y="1140685"/>
              <a:ext cx="10836269" cy="724303"/>
            </a:xfrm>
            <a:prstGeom prst="rect">
              <a:avLst/>
            </a:prstGeom>
            <a:noFill/>
          </p:spPr>
          <p:txBody>
            <a:bodyPr anchor="ctr" anchorCtr="0" bIns="46800" lIns="90000" rIns="90000" rtlCol="0" tIns="46800" wrap="square">
              <a:normAutofit/>
            </a:bodyPr>
            <a:lstStyle>
              <a:defPPr>
                <a:defRPr lang="en-US"/>
              </a:defPPr>
              <a:lvl1pPr>
                <a:defRPr b="1" sz="2400"/>
              </a:lvl1pPr>
            </a:lstStyle>
            <a:p>
              <a:pPr/>
              <a:r>
                <a:rPr altLang="en-US" dirty="0" lang="zh-CN"/>
                <a:t>包容性与严苛性的路径分野</a:t>
              </a:r>
              <a:endParaRPr dirty="0" lang="en-US"/>
            </a:p>
          </p:txBody>
        </p:sp>
        <p:grpSp>
          <p:nvGrpSpPr>
            <p:cNvPr descr="6461e78f-92ef-45d6-9cb3-8cfac49a3f52" id="22" name="组合 21">
              <a:extLst>
                <a:ext uri="{FF2B5EF4-FFF2-40B4-BE49-F238E27FC236}">
                  <a16:creationId id="{2244184D-B5C8-B8BC-7A90-32ADBAD0B090}"/>
                </a:ext>
              </a:extLst>
            </p:cNvPr>
            <p:cNvGrpSpPr/>
            <p:nvPr/>
          </p:nvGrpSpPr>
          <p:grpSpPr>
            <a:xfrm>
              <a:off x="675279" y="2173469"/>
              <a:ext cx="10830915" cy="1250347"/>
              <a:chOff x="675279" y="2173469"/>
              <a:chExt cx="10830915" cy="1250347"/>
            </a:xfrm>
          </p:grpSpPr>
          <p:sp>
            <p:nvSpPr>
              <p:cNvPr descr="bd15fb55-26f0-4f6e-8ac8-761b0599f599" id="6" name="Icon1">
                <a:extLst>
                  <a:ext uri="{FF2B5EF4-FFF2-40B4-BE49-F238E27FC236}">
                    <a16:creationId id="{89112800-D800-AF10-C51A-8AE1D459559E}"/>
                  </a:ext>
                </a:extLst>
              </p:cNvPr>
              <p:cNvSpPr/>
              <p:nvPr/>
            </p:nvSpPr>
            <p:spPr>
              <a:xfrm>
                <a:off x="675279" y="2461940"/>
                <a:ext cx="219540" cy="219155"/>
              </a:xfrm>
              <a:custGeom>
                <a:avLst/>
                <a:gdLst>
                  <a:gd fmla="*/ 2200 w 4400" name="T0"/>
                  <a:gd fmla="*/ 0 h 4400" name="T1"/>
                  <a:gd fmla="*/ 0 w 4400" name="T2"/>
                  <a:gd fmla="*/ 2200 h 4400" name="T3"/>
                  <a:gd fmla="*/ 2200 w 4400" name="T4"/>
                  <a:gd fmla="*/ 4400 h 4400" name="T5"/>
                  <a:gd fmla="*/ 4400 w 4400" name="T6"/>
                  <a:gd fmla="*/ 2200 h 4400" name="T7"/>
                  <a:gd fmla="*/ 2200 w 4400" name="T8"/>
                  <a:gd fmla="*/ 0 h 4400" name="T9"/>
                  <a:gd fmla="*/ 3408 w 4400" name="T10"/>
                  <a:gd fmla="*/ 1941 h 4400" name="T11"/>
                  <a:gd fmla="*/ 2341 w 4400" name="T12"/>
                  <a:gd fmla="*/ 3008 h 4400" name="T13"/>
                  <a:gd fmla="*/ 2200 w 4400" name="T14"/>
                  <a:gd fmla="*/ 3067 h 4400" name="T15"/>
                  <a:gd fmla="*/ 2059 w 4400" name="T16"/>
                  <a:gd fmla="*/ 3008 h 4400" name="T17"/>
                  <a:gd fmla="*/ 992 w 4400" name="T18"/>
                  <a:gd fmla="*/ 1941 h 4400" name="T19"/>
                  <a:gd fmla="*/ 992 w 4400" name="T20"/>
                  <a:gd fmla="*/ 1659 h 4400" name="T21"/>
                  <a:gd fmla="*/ 1275 w 4400" name="T22"/>
                  <a:gd fmla="*/ 1659 h 4400" name="T23"/>
                  <a:gd fmla="*/ 2200 w 4400" name="T24"/>
                  <a:gd fmla="*/ 2584 h 4400" name="T25"/>
                  <a:gd fmla="*/ 3125 w 4400" name="T26"/>
                  <a:gd fmla="*/ 1659 h 4400" name="T27"/>
                  <a:gd fmla="*/ 3408 w 4400" name="T28"/>
                  <a:gd fmla="*/ 1659 h 4400" name="T29"/>
                  <a:gd fmla="*/ 3408 w 4400" name="T30"/>
                  <a:gd fmla="*/ 1941 h 4400" name="T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b="b" l="0" r="r" t="0"/>
                <a:pathLst>
                  <a:path h="4400" w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dirty="0" lang="en-US"/>
              </a:p>
            </p:txBody>
          </p:sp>
          <p:sp>
            <p:nvSpPr>
              <p:cNvPr descr="b7c92c6e-5558-476e-9c63-34f9d1cb5068" id="7" name="Bullet1">
                <a:extLst>
                  <a:ext uri="{FF2B5EF4-FFF2-40B4-BE49-F238E27FC236}">
                    <a16:creationId id="{4C35D30E-9DAF-E6FA-01B3-684816FA00C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2804" y="2173469"/>
                <a:ext cx="10523390" cy="398049"/>
              </a:xfrm>
              <a:prstGeom prst="roundRect">
                <a:avLst>
                  <a:gd fmla="val 0" name="adj"/>
                </a:avLst>
              </a:prstGeom>
              <a:noFill/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b="1" dirty="0" lang="zh-CN">
                    <a:solidFill>
                      <a:schemeClr val="tx1"/>
                    </a:solidFill>
                  </a:rPr>
                  <a:t>美国DMCA以“通知+移除”为核心，强调为互联网产业提供责任豁免空间</a:t>
                </a:r>
                <a:endParaRPr dirty="0" lang="en-US"/>
              </a:p>
            </p:txBody>
          </p:sp>
          <p:sp>
            <p:nvSpPr>
              <p:cNvPr descr="f778acbc-8a5a-4da3-978f-de1a70397e3d" id="8" name="Text1">
                <a:extLst>
                  <a:ext uri="{FF2B5EF4-FFF2-40B4-BE49-F238E27FC236}">
                    <a16:creationId id="{25367C11-2EF9-F344-7A63-9C2F424ABC1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982804" y="2681095"/>
                <a:ext cx="10523390" cy="742721"/>
              </a:xfrm>
              <a:prstGeom prst="rect">
                <a:avLst/>
              </a:prstGeom>
              <a:noFill/>
            </p:spPr>
            <p:txBody>
              <a:bodyPr anchor="t" anchorCtr="0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200"/>
                  <a:t>保护技术创新与信息自由流动，避免平台承担过重审查义务</a:t>
                </a:r>
                <a:endParaRPr dirty="0" lang="en-US"/>
              </a:p>
            </p:txBody>
          </p:sp>
        </p:grpSp>
        <p:grpSp>
          <p:nvGrpSpPr>
            <p:cNvPr descr="e63ac6cd-d2fc-4fbe-9ec2-653fd47f86b6" id="23" name="组合 22">
              <a:extLst>
                <a:ext uri="{FF2B5EF4-FFF2-40B4-BE49-F238E27FC236}">
                  <a16:creationId id="{83C1ED74-FEF1-3D70-E618-C3CB0973664D}"/>
                </a:ext>
              </a:extLst>
            </p:cNvPr>
            <p:cNvGrpSpPr/>
            <p:nvPr/>
          </p:nvGrpSpPr>
          <p:grpSpPr>
            <a:xfrm>
              <a:off x="675279" y="3528610"/>
              <a:ext cx="10830919" cy="1250347"/>
              <a:chOff x="675279" y="3528610"/>
              <a:chExt cx="10830919" cy="1250347"/>
            </a:xfrm>
          </p:grpSpPr>
          <p:sp>
            <p:nvSpPr>
              <p:cNvPr descr="35c106e3-4b66-4708-bb05-4445dfb9a560" id="10" name="Icon2">
                <a:extLst>
                  <a:ext uri="{FF2B5EF4-FFF2-40B4-BE49-F238E27FC236}">
                    <a16:creationId id="{6388B819-9EA2-8402-D0F7-345B4E0027BA}"/>
                  </a:ext>
                </a:extLst>
              </p:cNvPr>
              <p:cNvSpPr/>
              <p:nvPr/>
            </p:nvSpPr>
            <p:spPr>
              <a:xfrm>
                <a:off x="675279" y="3817082"/>
                <a:ext cx="219540" cy="219155"/>
              </a:xfrm>
              <a:custGeom>
                <a:avLst/>
                <a:gdLst>
                  <a:gd fmla="*/ 2200 w 4400" name="T0"/>
                  <a:gd fmla="*/ 0 h 4400" name="T1"/>
                  <a:gd fmla="*/ 0 w 4400" name="T2"/>
                  <a:gd fmla="*/ 2200 h 4400" name="T3"/>
                  <a:gd fmla="*/ 2200 w 4400" name="T4"/>
                  <a:gd fmla="*/ 4400 h 4400" name="T5"/>
                  <a:gd fmla="*/ 4400 w 4400" name="T6"/>
                  <a:gd fmla="*/ 2200 h 4400" name="T7"/>
                  <a:gd fmla="*/ 2200 w 4400" name="T8"/>
                  <a:gd fmla="*/ 0 h 4400" name="T9"/>
                  <a:gd fmla="*/ 3408 w 4400" name="T10"/>
                  <a:gd fmla="*/ 1941 h 4400" name="T11"/>
                  <a:gd fmla="*/ 2341 w 4400" name="T12"/>
                  <a:gd fmla="*/ 3008 h 4400" name="T13"/>
                  <a:gd fmla="*/ 2200 w 4400" name="T14"/>
                  <a:gd fmla="*/ 3067 h 4400" name="T15"/>
                  <a:gd fmla="*/ 2059 w 4400" name="T16"/>
                  <a:gd fmla="*/ 3008 h 4400" name="T17"/>
                  <a:gd fmla="*/ 992 w 4400" name="T18"/>
                  <a:gd fmla="*/ 1941 h 4400" name="T19"/>
                  <a:gd fmla="*/ 992 w 4400" name="T20"/>
                  <a:gd fmla="*/ 1659 h 4400" name="T21"/>
                  <a:gd fmla="*/ 1275 w 4400" name="T22"/>
                  <a:gd fmla="*/ 1659 h 4400" name="T23"/>
                  <a:gd fmla="*/ 2200 w 4400" name="T24"/>
                  <a:gd fmla="*/ 2584 h 4400" name="T25"/>
                  <a:gd fmla="*/ 3125 w 4400" name="T26"/>
                  <a:gd fmla="*/ 1659 h 4400" name="T27"/>
                  <a:gd fmla="*/ 3408 w 4400" name="T28"/>
                  <a:gd fmla="*/ 1659 h 4400" name="T29"/>
                  <a:gd fmla="*/ 3408 w 4400" name="T30"/>
                  <a:gd fmla="*/ 1941 h 4400" name="T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b="b" l="0" r="r" t="0"/>
                <a:pathLst>
                  <a:path h="4400" w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descr="fe35763c-1c91-4313-8032-a19a76c19058" id="11" name="Bullet2">
                <a:extLst>
                  <a:ext uri="{FF2B5EF4-FFF2-40B4-BE49-F238E27FC236}">
                    <a16:creationId id="{B12594A8-882F-2CFC-2869-2EB18E4DF7C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2808" y="3528610"/>
                <a:ext cx="10523390" cy="398049"/>
              </a:xfrm>
              <a:prstGeom prst="roundRect">
                <a:avLst>
                  <a:gd fmla="val 0" name="adj"/>
                </a:avLst>
              </a:prstGeom>
              <a:noFill/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b="1" dirty="0" lang="zh-CN">
                    <a:solidFill>
                      <a:schemeClr val="tx1"/>
                    </a:solidFill>
                  </a:rPr>
                  <a:t>欧盟《单一数字市场版权指令》要求平台履行“版权过滤义务”</a:t>
                </a:r>
                <a:endParaRPr dirty="0" lang="en-US"/>
              </a:p>
            </p:txBody>
          </p:sp>
          <p:sp>
            <p:nvSpPr>
              <p:cNvPr descr="b91e1195-9914-4ec9-80a3-e13d60fb041e" id="12" name="Text2">
                <a:extLst>
                  <a:ext uri="{FF2B5EF4-FFF2-40B4-BE49-F238E27FC236}">
                    <a16:creationId id="{44DEDA2F-C8F1-C7FE-2D2E-1AE3F325AEA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982808" y="4036236"/>
                <a:ext cx="10523390" cy="742721"/>
              </a:xfrm>
              <a:prstGeom prst="rect">
                <a:avLst/>
              </a:prstGeom>
              <a:noFill/>
            </p:spPr>
            <p:txBody>
              <a:bodyPr anchor="t" anchorCtr="0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200"/>
                  <a:t>必须主动采取技术措施防止侵权内容上传，显著提高事前责任</a:t>
                </a:r>
                <a:endParaRPr dirty="0" lang="en-US"/>
              </a:p>
            </p:txBody>
          </p:sp>
        </p:grpSp>
        <p:grpSp>
          <p:nvGrpSpPr>
            <p:cNvPr descr="10041e39-e37d-4494-84e4-8c3d1d19be4f" id="24" name="组合 23">
              <a:extLst>
                <a:ext uri="{FF2B5EF4-FFF2-40B4-BE49-F238E27FC236}">
                  <a16:creationId id="{88823EDD-A27B-9D35-7460-8FE53952A2B0}"/>
                </a:ext>
              </a:extLst>
            </p:cNvPr>
            <p:cNvGrpSpPr/>
            <p:nvPr/>
          </p:nvGrpSpPr>
          <p:grpSpPr>
            <a:xfrm>
              <a:off x="675279" y="4883752"/>
              <a:ext cx="10834880" cy="1250347"/>
              <a:chOff x="675279" y="4883752"/>
              <a:chExt cx="10834880" cy="1250347"/>
            </a:xfrm>
          </p:grpSpPr>
          <p:sp>
            <p:nvSpPr>
              <p:cNvPr descr="2432057f-9f18-496f-950d-990a6c6c3de7" id="14" name="Icon3">
                <a:extLst>
                  <a:ext uri="{FF2B5EF4-FFF2-40B4-BE49-F238E27FC236}">
                    <a16:creationId id="{40EDFF1D-9EC2-A800-95D6-86C24D69BCC5}"/>
                  </a:ext>
                </a:extLst>
              </p:cNvPr>
              <p:cNvSpPr/>
              <p:nvPr/>
            </p:nvSpPr>
            <p:spPr>
              <a:xfrm>
                <a:off x="675279" y="5172224"/>
                <a:ext cx="219540" cy="219155"/>
              </a:xfrm>
              <a:custGeom>
                <a:avLst/>
                <a:gdLst>
                  <a:gd fmla="*/ 2200 w 4400" name="T0"/>
                  <a:gd fmla="*/ 0 h 4400" name="T1"/>
                  <a:gd fmla="*/ 0 w 4400" name="T2"/>
                  <a:gd fmla="*/ 2200 h 4400" name="T3"/>
                  <a:gd fmla="*/ 2200 w 4400" name="T4"/>
                  <a:gd fmla="*/ 4400 h 4400" name="T5"/>
                  <a:gd fmla="*/ 4400 w 4400" name="T6"/>
                  <a:gd fmla="*/ 2200 h 4400" name="T7"/>
                  <a:gd fmla="*/ 2200 w 4400" name="T8"/>
                  <a:gd fmla="*/ 0 h 4400" name="T9"/>
                  <a:gd fmla="*/ 3408 w 4400" name="T10"/>
                  <a:gd fmla="*/ 1941 h 4400" name="T11"/>
                  <a:gd fmla="*/ 2341 w 4400" name="T12"/>
                  <a:gd fmla="*/ 3008 h 4400" name="T13"/>
                  <a:gd fmla="*/ 2200 w 4400" name="T14"/>
                  <a:gd fmla="*/ 3067 h 4400" name="T15"/>
                  <a:gd fmla="*/ 2059 w 4400" name="T16"/>
                  <a:gd fmla="*/ 3008 h 4400" name="T17"/>
                  <a:gd fmla="*/ 992 w 4400" name="T18"/>
                  <a:gd fmla="*/ 1941 h 4400" name="T19"/>
                  <a:gd fmla="*/ 992 w 4400" name="T20"/>
                  <a:gd fmla="*/ 1659 h 4400" name="T21"/>
                  <a:gd fmla="*/ 1275 w 4400" name="T22"/>
                  <a:gd fmla="*/ 1659 h 4400" name="T23"/>
                  <a:gd fmla="*/ 2200 w 4400" name="T24"/>
                  <a:gd fmla="*/ 2584 h 4400" name="T25"/>
                  <a:gd fmla="*/ 3125 w 4400" name="T26"/>
                  <a:gd fmla="*/ 1659 h 4400" name="T27"/>
                  <a:gd fmla="*/ 3408 w 4400" name="T28"/>
                  <a:gd fmla="*/ 1659 h 4400" name="T29"/>
                  <a:gd fmla="*/ 3408 w 4400" name="T30"/>
                  <a:gd fmla="*/ 1941 h 4400" name="T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b="b" l="0" r="r" t="0"/>
                <a:pathLst>
                  <a:path h="4400" w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descr="47a2264c-21c5-4a7e-85e3-0547f0d0b759" id="15" name="Bullet3">
                <a:extLst>
                  <a:ext uri="{FF2B5EF4-FFF2-40B4-BE49-F238E27FC236}">
                    <a16:creationId id="{5045AB5C-2C4B-5AE6-44D5-7793E3F8CF5E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769" y="4883752"/>
                <a:ext cx="10523390" cy="398049"/>
              </a:xfrm>
              <a:prstGeom prst="roundRect">
                <a:avLst>
                  <a:gd fmla="val 0" name="adj"/>
                </a:avLst>
              </a:prstGeom>
              <a:noFill/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 wrap="square">
                <a:no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b="1" dirty="0" lang="zh-CN">
                    <a:solidFill>
                      <a:schemeClr val="tx1"/>
                    </a:solidFill>
                  </a:rPr>
                  <a:t>二者体现不同价值取向：美国重产业发展，欧盟重权利人保护</a:t>
                </a:r>
                <a:endParaRPr dirty="0" lang="en-US"/>
              </a:p>
            </p:txBody>
          </p:sp>
          <p:sp>
            <p:nvSpPr>
              <p:cNvPr descr="228d2d86-81e4-414d-8f56-eee6a386317f" id="16" name="Text3">
                <a:extLst>
                  <a:ext uri="{FF2B5EF4-FFF2-40B4-BE49-F238E27FC236}">
                    <a16:creationId id="{C66EF000-E162-E67D-AE2D-2BCD5217854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986769" y="5391378"/>
                <a:ext cx="10523390" cy="742721"/>
              </a:xfrm>
              <a:prstGeom prst="rect">
                <a:avLst/>
              </a:prstGeom>
              <a:noFill/>
            </p:spPr>
            <p:txBody>
              <a:bodyPr anchor="t" anchorCtr="0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 sz="1200"/>
                  <a:t>美欧模式差异反映数字治理理念的根本分歧</a:t>
                </a:r>
                <a:endParaRPr dirty="0" lang="en-US"/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新技术带来的挑战</a:t>
            </a:r>
            <a:endParaRPr dirty="0" lang="en-US"/>
          </a:p>
        </p:txBody>
      </p:sp>
      <p:grpSp>
        <p:nvGrpSpPr>
          <p:cNvPr descr="042ffe20-1f4b-4131-853e-ab0266ab93f0" id="26" name="e879a752-9be4-47c0-a361-228ab7e229d2.source.3.zh-Hans.pptx">
            <a:extLst>
              <a:ext uri="{FF2B5EF4-FFF2-40B4-BE49-F238E27FC236}">
                <a16:creationId id="{F557F9E9-8A26-53E3-25D1-BE7D581F27F0}"/>
              </a:ext>
            </a:extLst>
          </p:cNvPr>
          <p:cNvGrpSpPr/>
          <p:nvPr/>
        </p:nvGrpSpPr>
        <p:grpSpPr>
          <a:xfrm>
            <a:off x="660400" y="1141397"/>
            <a:ext cx="10858500" cy="4992702"/>
            <a:chOff x="660400" y="1141397"/>
            <a:chExt cx="10858500" cy="4992702"/>
          </a:xfrm>
        </p:grpSpPr>
        <p:grpSp>
          <p:nvGrpSpPr>
            <p:cNvPr descr="f7e8e1e9-26f7-4c71-ba52-973a76960d58" id="2" name="组合 1">
              <a:extLst>
                <a:ext uri="{FF2B5EF4-FFF2-40B4-BE49-F238E27FC236}">
                  <a16:creationId id="{427652F3-6EBC-9B4D-4872-B1BF03F80A14}"/>
                </a:ext>
              </a:extLst>
            </p:cNvPr>
            <p:cNvGrpSpPr/>
            <p:nvPr/>
          </p:nvGrpSpPr>
          <p:grpSpPr>
            <a:xfrm>
              <a:off x="660400" y="1141397"/>
              <a:ext cx="10858500" cy="4992702"/>
              <a:chOff x="660400" y="1141397"/>
              <a:chExt cx="10858500" cy="4992702"/>
            </a:xfrm>
          </p:grpSpPr>
          <p:sp>
            <p:nvSpPr>
              <p:cNvPr descr="eeb30378-be19-49c2-814d-ae4abf9290e9" id="18" name="Title">
                <a:extLst>
                  <a:ext uri="{FF2B5EF4-FFF2-40B4-BE49-F238E27FC236}">
                    <a16:creationId id="{96D828C7-0F19-4481-0B04-BAF2A9FCBF1F}"/>
                  </a:ext>
                </a:extLst>
              </p:cNvPr>
              <p:cNvSpPr/>
              <p:nvPr/>
            </p:nvSpPr>
            <p:spPr>
              <a:xfrm>
                <a:off x="660400" y="1141397"/>
                <a:ext cx="10858500" cy="853692"/>
              </a:xfrm>
              <a:prstGeom prst="roundRect">
                <a:avLst>
                  <a:gd fmla="val 14472" name="adj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 bIns="45720" lIns="91440" rIns="91440" rtlCol="0" tIns="45720" wrap="square">
                <a:normAutofit/>
              </a:bodyPr>
              <a:lstStyle/>
              <a:p>
                <a:pPr/>
                <a:r>
                  <a:rPr altLang="en-US" b="1" dirty="0" kumimoji="1" lang="zh-CN" sz="2400">
                    <a:solidFill>
                      <a:schemeClr val="tx1"/>
                    </a:solidFill>
                  </a:rPr>
                  <a:t>生成式AI冲击传统避风港框架</a:t>
                </a:r>
                <a:endParaRPr dirty="0" lang="en-US"/>
              </a:p>
            </p:txBody>
          </p:sp>
          <p:grpSp>
            <p:nvGrpSpPr>
              <p:cNvPr descr="fc3fb266-a86e-46dc-a650-9bf298ac8d18" id="22" name="组合 21">
                <a:extLst>
                  <a:ext uri="{FF2B5EF4-FFF2-40B4-BE49-F238E27FC236}">
                    <a16:creationId id="{C50EA280-9828-4219-8D7E-F42401402917}"/>
                  </a:ext>
                </a:extLst>
              </p:cNvPr>
              <p:cNvGrpSpPr/>
              <p:nvPr/>
            </p:nvGrpSpPr>
            <p:grpSpPr>
              <a:xfrm>
                <a:off x="660400" y="3347035"/>
                <a:ext cx="3402912" cy="2787064"/>
                <a:chOff x="660400" y="3347035"/>
                <a:chExt cx="3402912" cy="2787064"/>
              </a:xfrm>
            </p:grpSpPr>
            <p:sp>
              <p:nvSpPr>
                <p:cNvPr descr="3e8de7c6-8264-4302-b7ef-79d7a9da966a" id="7" name="Bullet1">
                  <a:extLst>
                    <a:ext uri="{FF2B5EF4-FFF2-40B4-BE49-F238E27FC236}">
                      <a16:creationId id="{C068C390-F138-0E57-2778-AC8E4E97854D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1116067" y="3347035"/>
                  <a:ext cx="2947244" cy="438390"/>
                </a:xfrm>
                <a:prstGeom prst="rect">
                  <a:avLst/>
                </a:prstGeom>
                <a:noFill/>
              </p:spPr>
              <p:txBody>
                <a:bodyPr anchor="ctr" anchorCtr="0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altLang="en-US" b="1" dirty="0" lang="zh-CN"/>
                    <a:t>GAI服务提供者难以适用“通知—删除”机制</a:t>
                  </a:r>
                  <a:endParaRPr dirty="0" lang="en-US"/>
                </a:p>
              </p:txBody>
            </p:sp>
            <p:sp>
              <p:nvSpPr>
                <p:cNvPr descr="fc82a568-bda4-4de0-b19f-e8324fe55b41" id="8" name="Text1">
                  <a:extLst>
                    <a:ext uri="{FF2B5EF4-FFF2-40B4-BE49-F238E27FC236}">
                      <a16:creationId id="{8A7A270E-F7C5-6216-3E03-42EF7704C26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6068" y="3867978"/>
                  <a:ext cx="2947244" cy="2266121"/>
                </a:xfrm>
                <a:prstGeom prst="rect">
                  <a:avLst/>
                </a:prstGeom>
                <a:noFill/>
              </p:spPr>
              <p:txBody>
                <a:bodyPr anchor="t" anchorCtr="0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altLang="en-US" dirty="0" lang="zh-CN">
                      <a:solidFill>
                        <a:schemeClr val="tx1"/>
                      </a:solidFill>
                      <a:latin charset="0" panose="020B0604020202020204" pitchFamily="34" typeface="Arial"/>
                      <a:ea charset="-122" panose="020B0503020204020204" pitchFamily="34" typeface="微软雅黑"/>
                      <a:sym charset="0" panose="020B0604020202020204" pitchFamily="34" typeface="Arial"/>
                    </a:rPr>
                    <a:t>生成内容无固定链接，且具有私密性和即时性，无法简单移除</a:t>
                  </a:r>
                  <a:endParaRPr dirty="0" lang="en-US"/>
                </a:p>
              </p:txBody>
            </p:sp>
            <p:sp>
              <p:nvSpPr>
                <p:cNvPr descr="437cb911-b388-4b3e-8af3-a358e1a33efc" id="9" name="Number1">
                  <a:extLst>
                    <a:ext uri="{FF2B5EF4-FFF2-40B4-BE49-F238E27FC236}">
                      <a16:creationId id="{75922AD0-8C5F-CE11-A78A-C069A8B87BDF}"/>
                    </a:ext>
                  </a:extLst>
                </p:cNvPr>
                <p:cNvSpPr/>
                <p:nvPr/>
              </p:nvSpPr>
              <p:spPr>
                <a:xfrm>
                  <a:off x="660400" y="3347035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3765"/>
                  <a:r>
                    <a:rPr b="1" dirty="0" lang="en-US" sz="1400">
                      <a:solidFill>
                        <a:srgbClr val="FFFFFF"/>
                      </a:solidFill>
                      <a:cs typeface="+mn-ea"/>
                      <a:sym typeface="+mn-lt"/>
                    </a:rPr>
                    <a:t>1</a:t>
                  </a:r>
                  <a:endParaRPr b="1" dirty="0" sz="140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descr="cb3d9c68-55ee-45c1-b357-783f852c689a" id="23" name="组合 22">
                <a:extLst>
                  <a:ext uri="{FF2B5EF4-FFF2-40B4-BE49-F238E27FC236}">
                    <a16:creationId id="{7324449F-4767-FDAD-3D8A-4A15EFAFA475}"/>
                  </a:ext>
                </a:extLst>
              </p:cNvPr>
              <p:cNvGrpSpPr/>
              <p:nvPr/>
            </p:nvGrpSpPr>
            <p:grpSpPr>
              <a:xfrm>
                <a:off x="4388193" y="3347035"/>
                <a:ext cx="3402912" cy="2787064"/>
                <a:chOff x="4388193" y="3347035"/>
                <a:chExt cx="3402912" cy="2787064"/>
              </a:xfrm>
            </p:grpSpPr>
            <p:sp>
              <p:nvSpPr>
                <p:cNvPr descr="f8b795db-3e0c-49c1-b7b1-3c9d9bc0611d" id="11" name="Bullet2">
                  <a:extLst>
                    <a:ext uri="{FF2B5EF4-FFF2-40B4-BE49-F238E27FC236}">
                      <a16:creationId id="{66EE89EB-5F22-4889-29C3-E72F738C639A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4843860" y="3347035"/>
                  <a:ext cx="2947244" cy="438390"/>
                </a:xfrm>
                <a:prstGeom prst="rect">
                  <a:avLst/>
                </a:prstGeom>
                <a:noFill/>
              </p:spPr>
              <p:txBody>
                <a:bodyPr anchor="ctr" anchorCtr="0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altLang="en-US" b="1" dirty="0" lang="zh-CN"/>
                    <a:t>定性困境：是内容提供者还是技术服务者？</a:t>
                  </a:r>
                  <a:endParaRPr dirty="0" lang="en-US"/>
                </a:p>
              </p:txBody>
            </p:sp>
            <p:sp>
              <p:nvSpPr>
                <p:cNvPr descr="3c176b47-df07-41cb-bd08-3357c6bab6f8" id="12" name="Text2">
                  <a:extLst>
                    <a:ext uri="{FF2B5EF4-FFF2-40B4-BE49-F238E27FC236}">
                      <a16:creationId id="{D0AF0EC0-C640-692B-84D1-EA2724C0AB1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843861" y="3867978"/>
                  <a:ext cx="2947244" cy="2266121"/>
                </a:xfrm>
                <a:prstGeom prst="rect">
                  <a:avLst/>
                </a:prstGeom>
                <a:noFill/>
              </p:spPr>
              <p:txBody>
                <a:bodyPr anchor="t" anchorCtr="0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altLang="en-US" dirty="0" lang="zh-CN">
                      <a:solidFill>
                        <a:schemeClr val="tx1"/>
                      </a:solidFill>
                      <a:latin charset="0" panose="020B0604020202020204" pitchFamily="34" typeface="Arial"/>
                      <a:ea charset="-122" panose="020B0503020204020204" pitchFamily="34" typeface="微软雅黑"/>
                      <a:sym charset="0" panose="020B0604020202020204" pitchFamily="34" typeface="Arial"/>
                    </a:rPr>
                    <a:t>虽具技术中立性，但生成内容海量且不可控，责任边界模糊</a:t>
                  </a:r>
                  <a:endParaRPr dirty="0" lang="en-US"/>
                </a:p>
              </p:txBody>
            </p:sp>
            <p:sp>
              <p:nvSpPr>
                <p:cNvPr descr="571e2478-ef11-4cfe-a609-6743e7883300" id="13" name="Number2">
                  <a:extLst>
                    <a:ext uri="{FF2B5EF4-FFF2-40B4-BE49-F238E27FC236}">
                      <a16:creationId id="{E35C83D1-52FF-E07C-1761-C8A0A1B6E506}"/>
                    </a:ext>
                  </a:extLst>
                </p:cNvPr>
                <p:cNvSpPr/>
                <p:nvPr/>
              </p:nvSpPr>
              <p:spPr>
                <a:xfrm>
                  <a:off x="4388193" y="3347035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3765"/>
                  <a:r>
                    <a:rPr b="1" dirty="0" lang="en-US" sz="1400">
                      <a:solidFill>
                        <a:srgbClr val="FFFFFF"/>
                      </a:solidFill>
                      <a:cs typeface="+mn-ea"/>
                      <a:sym typeface="+mn-lt"/>
                    </a:rPr>
                    <a:t>2</a:t>
                  </a:r>
                  <a:endParaRPr b="1" dirty="0" sz="140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descr="3b301fc2-da30-4da9-a669-ec79dbdf27b2" id="24" name="组合 23">
                <a:extLst>
                  <a:ext uri="{FF2B5EF4-FFF2-40B4-BE49-F238E27FC236}">
                    <a16:creationId id="{466444A3-1A63-BDB3-0B6C-45437CDF7737}"/>
                  </a:ext>
                </a:extLst>
              </p:cNvPr>
              <p:cNvGrpSpPr/>
              <p:nvPr/>
            </p:nvGrpSpPr>
            <p:grpSpPr>
              <a:xfrm>
                <a:off x="8115987" y="3347035"/>
                <a:ext cx="3402912" cy="2787064"/>
                <a:chOff x="8115987" y="3347035"/>
                <a:chExt cx="3402912" cy="2787064"/>
              </a:xfrm>
            </p:grpSpPr>
            <p:sp>
              <p:nvSpPr>
                <p:cNvPr descr="aac0359a-7787-41d6-b730-6bed4623501e" id="15" name="Bullet3">
                  <a:extLst>
                    <a:ext uri="{FF2B5EF4-FFF2-40B4-BE49-F238E27FC236}">
                      <a16:creationId id="{5B3A7C1D-5FA3-2D65-9C25-91050508C825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8571654" y="3347035"/>
                  <a:ext cx="2947244" cy="438390"/>
                </a:xfrm>
                <a:prstGeom prst="rect">
                  <a:avLst/>
                </a:prstGeom>
                <a:noFill/>
              </p:spPr>
              <p:txBody>
                <a:bodyPr anchor="ctr" anchorCtr="0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altLang="en-US" b="1" dirty="0" lang="zh-CN"/>
                    <a:t>完全套用避风港规则存在制度失灵风险</a:t>
                  </a:r>
                  <a:endParaRPr dirty="0" lang="en-US"/>
                </a:p>
              </p:txBody>
            </p:sp>
            <p:sp>
              <p:nvSpPr>
                <p:cNvPr descr="83a52394-a94d-4ab4-994b-be12f549e4e7" id="16" name="Text3">
                  <a:extLst>
                    <a:ext uri="{FF2B5EF4-FFF2-40B4-BE49-F238E27FC236}">
                      <a16:creationId id="{3F64DAE0-4C96-D97A-D944-71DE5F126F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571655" y="3867978"/>
                  <a:ext cx="2947244" cy="2266121"/>
                </a:xfrm>
                <a:prstGeom prst="rect">
                  <a:avLst/>
                </a:prstGeom>
                <a:noFill/>
              </p:spPr>
              <p:txBody>
                <a:bodyPr anchor="t" anchorCtr="0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altLang="en-US" dirty="0" lang="zh-CN">
                      <a:solidFill>
                        <a:schemeClr val="tx1"/>
                      </a:solidFill>
                      <a:latin charset="0" panose="020B0604020202020204" pitchFamily="34" typeface="Arial"/>
                      <a:ea charset="-122" panose="020B0503020204020204" pitchFamily="34" typeface="微软雅黑"/>
                      <a:sym charset="0" panose="020B0604020202020204" pitchFamily="34" typeface="Arial"/>
                    </a:rPr>
                    <a:t>需建立符合AI特征的新型免责机制，平衡创新与权利保护</a:t>
                  </a:r>
                  <a:endParaRPr dirty="0" lang="en-US"/>
                </a:p>
              </p:txBody>
            </p:sp>
            <p:sp>
              <p:nvSpPr>
                <p:cNvPr descr="d53c4ea8-c359-4c1b-a507-0880577a94ed" id="17" name="Number3">
                  <a:extLst>
                    <a:ext uri="{FF2B5EF4-FFF2-40B4-BE49-F238E27FC236}">
                      <a16:creationId id="{D76FBA3F-8618-ABCD-B6F9-ADB80842EB74}"/>
                    </a:ext>
                  </a:extLst>
                </p:cNvPr>
                <p:cNvSpPr/>
                <p:nvPr/>
              </p:nvSpPr>
              <p:spPr>
                <a:xfrm>
                  <a:off x="8115987" y="3347035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3765"/>
                  <a:r>
                    <a:rPr b="1" dirty="0" lang="en-US" sz="1400">
                      <a:solidFill>
                        <a:srgbClr val="FFFFFF"/>
                      </a:solidFill>
                      <a:cs typeface="+mn-ea"/>
                      <a:sym typeface="+mn-lt"/>
                    </a:rPr>
                    <a:t>3</a:t>
                  </a:r>
                  <a:endParaRPr b="1" dirty="0" sz="140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cxnSp>
          <p:nvCxnSpPr>
            <p:cNvPr descr="0158ddb5-7d87-43e2-a2a2-3875e344ff8c" id="3" name="连接符: 肘形 2">
              <a:extLst>
                <a:ext uri="{FF2B5EF4-FFF2-40B4-BE49-F238E27FC236}">
                  <a16:creationId id="{58CA1AC5-6447-1E4F-3FBF-2918BE011F45}"/>
                </a:ext>
              </a:extLst>
            </p:cNvPr>
            <p:cNvCxnSpPr>
              <a:cxnSpLocks/>
              <a:stCxn id="9" idx="0"/>
              <a:endCxn id="17" idx="0"/>
            </p:cNvCxnSpPr>
            <p:nvPr/>
          </p:nvCxnSpPr>
          <p:spPr>
            <a:xfrm flipH="1" flipV="1" rot="5400000">
              <a:off x="4616026" y="-380758"/>
              <a:ext cx="12700" cy="7455587"/>
            </a:xfrm>
            <a:prstGeom prst="bentConnector3">
              <a:avLst>
                <a:gd fmla="val 1800000" name="adj1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edd486f1-1763-4e15-9a6f-b00aaf4d9ddb" id="21" name="直接箭头连接符 20">
              <a:extLst>
                <a:ext uri="{FF2B5EF4-FFF2-40B4-BE49-F238E27FC236}">
                  <a16:creationId id="{FFC0428F-8E2D-445B-7C26-75CB6B033051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4616026" y="2632841"/>
              <a:ext cx="0" cy="714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23087fc-693f-4fcc-81ab-3318ee5cda4f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立法方向展望</a:t>
            </a:r>
            <a:endParaRPr dirty="0" lang="en-US"/>
          </a:p>
        </p:txBody>
      </p:sp>
      <p:grpSp>
        <p:nvGrpSpPr>
          <p:cNvPr descr="a7a007fb-4878-4e9f-a2db-476968d4baf7" id="5" name="6d649ebf-74bc-446c-add3-cfd664cd660c.source.3.zh-Hans.pptx">
            <a:extLst>
              <a:ext uri="{FF2B5EF4-FFF2-40B4-BE49-F238E27FC236}">
                <a16:creationId id="{863987AA-CAC8-6A3F-3599-0C2FB61D1227}"/>
              </a:ext>
            </a:extLst>
          </p:cNvPr>
          <p:cNvGrpSpPr/>
          <p:nvPr/>
        </p:nvGrpSpPr>
        <p:grpSpPr>
          <a:xfrm>
            <a:off x="1" y="1130300"/>
            <a:ext cx="12191999" cy="5727700"/>
            <a:chOff x="1" y="1130300"/>
            <a:chExt cx="12191999" cy="5727700"/>
          </a:xfrm>
        </p:grpSpPr>
        <p:sp>
          <p:nvSpPr>
            <p:cNvPr descr="dc327a52-86fb-4b64-ad19-b0575044ce86" id="65" name="PictureMisc1">
              <a:extLst>
                <a:ext uri="{FF2B5EF4-FFF2-40B4-BE49-F238E27FC236}">
                  <a16:creationId id="{5DB9263E-74BC-324D-8274-8640186FCC47}"/>
                </a:ext>
              </a:extLst>
            </p:cNvPr>
            <p:cNvSpPr/>
            <p:nvPr/>
          </p:nvSpPr>
          <p:spPr>
            <a:xfrm>
              <a:off x="1" y="4454604"/>
              <a:ext cx="12191999" cy="2403396"/>
            </a:xfrm>
            <a:prstGeom prst="rect">
              <a:avLst/>
            </a:prstGeom>
            <a:blipFill>
              <a:blip r:embed="rId4"/>
              <a:srcRect/>
              <a:stretch>
                <a:fillRect b="-184535" t="-534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descr="57f825d6-94cb-4389-abad-10a642d23543" id="10" name="c">
              <a:extLst>
                <a:ext uri="{FF2B5EF4-FFF2-40B4-BE49-F238E27FC236}">
                  <a16:creationId id="{F586F91A-F926-94C4-B940-7B33FA137CEB}"/>
                </a:ext>
              </a:extLst>
            </p:cNvPr>
            <p:cNvSpPr/>
            <p:nvPr/>
          </p:nvSpPr>
          <p:spPr>
            <a:xfrm>
              <a:off x="598591" y="1824048"/>
              <a:ext cx="10994819" cy="4310052"/>
            </a:xfrm>
            <a:prstGeom prst="roundRect">
              <a:avLst>
                <a:gd fmla="val 3015" name="adj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none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altLang="en-US" b="1" lang="zh-CN">
                <a:solidFill>
                  <a:srgbClr val="000000"/>
                </a:solidFill>
              </a:endParaRPr>
            </a:p>
          </p:txBody>
        </p:sp>
        <p:cxnSp>
          <p:nvCxnSpPr>
            <p:cNvPr descr="dac5d439-7eda-4656-8a7c-1d735399ae92" id="226" name="直接连接符 225">
              <a:extLst>
                <a:ext uri="{FF2B5EF4-FFF2-40B4-BE49-F238E27FC236}">
                  <a16:creationId id="{0CA1E6CF-3DAE-9AF9-D21F-100AE9D7D50B}"/>
                </a:ext>
              </a:extLst>
            </p:cNvPr>
            <p:cNvCxnSpPr>
              <a:cxnSpLocks/>
              <a:stCxn id="72" idx="3"/>
              <a:endCxn id="76" idx="1"/>
            </p:cNvCxnSpPr>
            <p:nvPr/>
          </p:nvCxnSpPr>
          <p:spPr>
            <a:xfrm>
              <a:off x="3771398" y="2158127"/>
              <a:ext cx="475617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46a4605b-a720-439c-a1b1-159a778ec22b" id="158" name="Title">
              <a:extLst>
                <a:ext uri="{FF2B5EF4-FFF2-40B4-BE49-F238E27FC236}">
                  <a16:creationId id="{AC341146-36D4-4164-92F2-A18213FC327C}"/>
                </a:ext>
              </a:extLst>
            </p:cNvPr>
            <p:cNvSpPr>
              <a:spLocks/>
            </p:cNvSpPr>
            <p:nvPr/>
          </p:nvSpPr>
          <p:spPr>
            <a:xfrm>
              <a:off x="660399" y="1130300"/>
              <a:ext cx="10858500" cy="60809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square">
              <a:normAutofit/>
            </a:bodyPr>
            <a:lstStyle/>
            <a:p>
              <a:pPr/>
              <a:r>
                <a:rPr altLang="en-US" b="1" dirty="0" lang="zh-CN" sz="2400">
                  <a:solidFill>
                    <a:schemeClr val="tx1"/>
                  </a:solidFill>
                </a:rPr>
                <a:t>从被动免责到主动治理的责任升级</a:t>
              </a:r>
              <a:endParaRPr dirty="0" lang="en-US"/>
            </a:p>
          </p:txBody>
        </p:sp>
        <p:grpSp>
          <p:nvGrpSpPr>
            <p:cNvPr descr="fc306c34-b247-48d3-a181-bc496b2e9dce" id="2" name="组合 1">
              <a:extLst>
                <a:ext uri="{FF2B5EF4-FFF2-40B4-BE49-F238E27FC236}">
                  <a16:creationId id="{1E89B8CC-B55C-FA98-E6BC-B702007FD8AC}"/>
                </a:ext>
              </a:extLst>
            </p:cNvPr>
            <p:cNvGrpSpPr/>
            <p:nvPr/>
          </p:nvGrpSpPr>
          <p:grpSpPr>
            <a:xfrm>
              <a:off x="666750" y="2008394"/>
              <a:ext cx="5306495" cy="1985305"/>
              <a:chOff x="666750" y="2008394"/>
              <a:chExt cx="5306495" cy="1985305"/>
            </a:xfrm>
          </p:grpSpPr>
          <p:sp>
            <p:nvSpPr>
              <p:cNvPr descr="d6a79fb6-7846-4c78-a1e1-77663588a57e" id="95" name="Bullet1">
                <a:extLst>
                  <a:ext uri="{FF2B5EF4-FFF2-40B4-BE49-F238E27FC236}">
                    <a16:creationId id="{A668A0D6-A050-C5D4-2140-BEC7BDF964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全球趋势正由“避风港”向“必要措施”演进</a:t>
                </a:r>
                <a:endParaRPr dirty="0" lang="en-US"/>
              </a:p>
            </p:txBody>
          </p:sp>
          <p:sp>
            <p:nvSpPr>
              <p:cNvPr descr="e17ed25b-e645-4acf-a310-50eddc656dc2" id="96" name="Text1">
                <a:extLst>
                  <a:ext uri="{FF2B5EF4-FFF2-40B4-BE49-F238E27FC236}">
                    <a16:creationId id="{C10F2A4E-8E15-900B-40D8-D6F05CAE28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中国《民法典》已转向要求平台采取审慎、合理的多元应对措施</a:t>
                </a:r>
                <a:endParaRPr dirty="0" lang="en-US"/>
              </a:p>
            </p:txBody>
          </p:sp>
          <p:sp>
            <p:nvSpPr>
              <p:cNvPr descr="ecd8c741-42f9-48b5-a544-2783cb87ac08" id="72" name="Number1">
                <a:extLst>
                  <a:ext uri="{FF2B5EF4-FFF2-40B4-BE49-F238E27FC236}">
                    <a16:creationId id="{3A43B319-7C97-320B-D093-0821E4490A89}"/>
                  </a:ext>
                </a:extLst>
              </p:cNvPr>
              <p:cNvSpPr txBox="1"/>
              <p:nvPr/>
            </p:nvSpPr>
            <p:spPr>
              <a:xfrm>
                <a:off x="2868596" y="200839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altLang="zh-CN" dirty="0" lang="it-IT" sz="1200">
                    <a:sym typeface="+mn-lt"/>
                  </a:rPr>
                  <a:t>1</a:t>
                </a:r>
                <a:endParaRPr altLang="en-US" dirty="0" lang="zh-CN" sz="1200">
                  <a:sym typeface="+mn-lt"/>
                </a:endParaRPr>
              </a:p>
            </p:txBody>
          </p:sp>
        </p:grpSp>
        <p:grpSp>
          <p:nvGrpSpPr>
            <p:cNvPr descr="dc0132b2-887b-4342-b4ed-c33bffd7a45f" id="3" name="组合 2">
              <a:extLst>
                <a:ext uri="{FF2B5EF4-FFF2-40B4-BE49-F238E27FC236}">
                  <a16:creationId id="{B0A3E6F0-1CCC-3A7F-CCBB-55D0E54811EA}"/>
                </a:ext>
              </a:extLst>
            </p:cNvPr>
            <p:cNvGrpSpPr/>
            <p:nvPr/>
          </p:nvGrpSpPr>
          <p:grpSpPr>
            <a:xfrm>
              <a:off x="6212405" y="2008394"/>
              <a:ext cx="5306495" cy="1985305"/>
              <a:chOff x="6212405" y="2008394"/>
              <a:chExt cx="5306495" cy="1985305"/>
            </a:xfrm>
          </p:grpSpPr>
          <p:sp>
            <p:nvSpPr>
              <p:cNvPr descr="09fbd46d-031f-4d60-b0c6-5abeca306fe6" id="77" name="Bullet2">
                <a:extLst>
                  <a:ext uri="{FF2B5EF4-FFF2-40B4-BE49-F238E27FC236}">
                    <a16:creationId id="{35D93B8A-EB98-534E-5776-A723F2AB36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美国版权局评估认为现行制度失衡，建议微调而非重构</a:t>
                </a:r>
                <a:endParaRPr dirty="0" lang="en-US"/>
              </a:p>
            </p:txBody>
          </p:sp>
          <p:sp>
            <p:nvSpPr>
              <p:cNvPr descr="9d3cdd36-9cfd-4008-9dcf-29c5aee76dac" id="78" name="Text2">
                <a:extLst>
                  <a:ext uri="{FF2B5EF4-FFF2-40B4-BE49-F238E27FC236}">
                    <a16:creationId id="{33947B64-2C69-EEC4-7500-302DC2E621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强调事实依据与数据支撑，维持产业稳定预期</a:t>
                </a:r>
                <a:endParaRPr dirty="0" lang="en-US"/>
              </a:p>
            </p:txBody>
          </p:sp>
          <p:sp>
            <p:nvSpPr>
              <p:cNvPr descr="048a3013-2ca6-49f4-b6b5-ee9106f83404" id="76" name="Number2">
                <a:extLst>
                  <a:ext uri="{FF2B5EF4-FFF2-40B4-BE49-F238E27FC236}">
                    <a16:creationId id="{9ED18147-10F1-0FD3-7B83-519D3BE0179A}"/>
                  </a:ext>
                </a:extLst>
              </p:cNvPr>
              <p:cNvSpPr txBox="1"/>
              <p:nvPr/>
            </p:nvSpPr>
            <p:spPr>
              <a:xfrm>
                <a:off x="8414251" y="200839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altLang="zh-CN" dirty="0" lang="it-IT" sz="1200">
                    <a:sym typeface="+mn-lt"/>
                  </a:rPr>
                  <a:t>2</a:t>
                </a:r>
                <a:endParaRPr altLang="en-US" dirty="0" lang="zh-CN" sz="1200">
                  <a:sym typeface="+mn-lt"/>
                </a:endParaRPr>
              </a:p>
            </p:txBody>
          </p:sp>
        </p:grpSp>
        <p:grpSp>
          <p:nvGrpSpPr>
            <p:cNvPr descr="c5344d8f-9ecf-4f4c-b948-70734841bf24" id="4" name="组合 3">
              <a:extLst>
                <a:ext uri="{FF2B5EF4-FFF2-40B4-BE49-F238E27FC236}">
                  <a16:creationId id="{81A8D727-5F88-3DC7-C9BF-3E45258BD934}"/>
                </a:ext>
              </a:extLst>
            </p:cNvPr>
            <p:cNvGrpSpPr/>
            <p:nvPr/>
          </p:nvGrpSpPr>
          <p:grpSpPr>
            <a:xfrm>
              <a:off x="660399" y="4026774"/>
              <a:ext cx="10858500" cy="1985305"/>
              <a:chOff x="660399" y="4026774"/>
              <a:chExt cx="10858500" cy="1985305"/>
            </a:xfrm>
          </p:grpSpPr>
          <p:sp>
            <p:nvSpPr>
              <p:cNvPr descr="7967fa0a-3bee-4a5c-8ad1-ea84465d394a" id="240" name="Bullet3">
                <a:extLst>
                  <a:ext uri="{FF2B5EF4-FFF2-40B4-BE49-F238E27FC236}">
                    <a16:creationId id="{95832515-E09E-D65E-A6AE-5FE08AABDE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399" y="4446509"/>
                <a:ext cx="10858500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altLang="en-US" dirty="0" lang="zh-CN"/>
                  <a:t>未来立法将更注重平台商业模式与获利机制</a:t>
                </a:r>
                <a:endParaRPr dirty="0" lang="en-US"/>
              </a:p>
            </p:txBody>
          </p:sp>
          <p:sp>
            <p:nvSpPr>
              <p:cNvPr descr="71005dde-04de-4a21-96b8-356cb4e04cdc" id="241" name="Text3">
                <a:extLst>
                  <a:ext uri="{FF2B5EF4-FFF2-40B4-BE49-F238E27FC236}">
                    <a16:creationId id="{0E9832D8-661F-47F5-2487-8337E3ACDD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399" y="5104476"/>
                <a:ext cx="10858500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0" bIns="45720" lIns="91440" rIns="91440" tIns="45720" wrap="square">
                <a:normAutofit/>
              </a:bodyPr>
              <a:lstStyle/>
              <a:p>
                <a:pPr defTabSz="913765" eaLnBrk="1" fontAlgn="auto" hangingPunct="1" indent="0" latinLnBrk="0" lvl="0" marL="0" marR="0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altLang="en-US" baseline="0" cap="none" dirty="0" i="0" kern="1200" kumimoji="0" lang="zh-CN" noProof="0" normalizeH="0" spc="0" strike="noStrike" sz="12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rPr>
                  <a:t>对高频、规模化侵权场景强化注意义务，遏制规则滥用</a:t>
                </a:r>
                <a:endParaRPr dirty="0" lang="en-US"/>
              </a:p>
            </p:txBody>
          </p:sp>
          <p:sp>
            <p:nvSpPr>
              <p:cNvPr descr="71e9b640-20dc-4492-a63c-5ef6372dc91c" id="242" name="Number3">
                <a:extLst>
                  <a:ext uri="{FF2B5EF4-FFF2-40B4-BE49-F238E27FC236}">
                    <a16:creationId id="{0D3019D7-A355-676E-AC51-5F37A193A9FA}"/>
                  </a:ext>
                </a:extLst>
              </p:cNvPr>
              <p:cNvSpPr txBox="1"/>
              <p:nvPr/>
            </p:nvSpPr>
            <p:spPr>
              <a:xfrm flipH="1">
                <a:off x="5644599" y="4026774"/>
                <a:ext cx="902802" cy="299465"/>
              </a:xfrm>
              <a:prstGeom prst="chevron">
                <a:avLst>
                  <a:gd fmla="val 3784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wrap="none">
                <a:normAutofit/>
              </a:bodyPr>
              <a:lstStyle>
                <a:defPPr>
                  <a:defRPr lang="en-US"/>
                </a:defPPr>
                <a:lvl1pPr algn="ctr">
                  <a:defRPr b="1" sz="1000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altLang="zh-CN" dirty="0" lang="it-IT" sz="1200">
                    <a:sym typeface="+mn-lt"/>
                  </a:rPr>
                  <a:t>3</a:t>
                </a:r>
                <a:endParaRPr altLang="en-US" dirty="0" lang="zh-CN" sz="1200"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1a447582-b4b1-4001-86e7-b66e5bfbf4b7" id="2" name="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/>
            <a:r>
              <a:rPr altLang="en-US" dirty="0" lang="zh-CN"/>
              <a:t>谢谢观看</a:t>
            </a:r>
            <a:endParaRPr dirty="0" lang="en-US"/>
          </a:p>
        </p:txBody>
      </p:sp>
      <p:sp>
        <p:nvSpPr>
          <p:cNvPr descr="e29d0b23-4c46-4ae7-b754-0744fada7e91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/>
            <a:r>
              <a:rPr altLang="en-US" dirty="0" lang="zh-CN"/>
              <a:t>报告人名称</a:t>
            </a:r>
            <a:endParaRPr dirty="0" lang="en-US"/>
          </a:p>
        </p:txBody>
      </p:sp>
      <p:sp>
        <p:nvSpPr>
          <p:cNvPr descr="0fbbe33e-ac5c-4422-ba89-34a2c555cf05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/>
          <a:lstStyle/>
          <a:p>
            <a:pPr/>
            <a:r>
              <a:rPr altLang="en-US" dirty="0" lang="zh-CN"/>
              <a:t>20xx.xx.xx</a:t>
            </a:r>
            <a:endParaRPr dirty="0" lang="en-US"/>
          </a:p>
        </p:txBody>
      </p:sp>
      <p:sp>
        <p:nvSpPr>
          <p:cNvPr name="TextBox 3" id="3"/>
          <p:cNvSpPr txBox="true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anchor="ctr" rtlCol="false" wrap="none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内容由夸克AI生成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a8708338-d13f-4ac7-8945-69282dfd7b9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5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0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4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5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6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46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46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66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heme/theme1.xml><?xml version="1.0" encoding="utf-8"?>
<a:theme xmlns:r="http://schemas.openxmlformats.org/officeDocument/2006/relationships"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3659"/>
      </a:accent1>
      <a:accent2>
        <a:srgbClr val="47BEC6"/>
      </a:accent2>
      <a:accent3>
        <a:srgbClr val="00AEEF"/>
      </a:accent3>
      <a:accent4>
        <a:srgbClr val="00A7FF"/>
      </a:accent4>
      <a:accent5>
        <a:srgbClr val="7F7F7F"/>
      </a:accent5>
      <a:accent6>
        <a:srgbClr val="979797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iSlide#a8708338-d13f-4ac7-8945-69282dfd7b90</Template>
  <Manager>iSlide</Manager>
  <Company>iSlide</Company>
  <PresentationFormat>Widescreen</PresentationFormat>
  <Paragraphs>102</Paragraphs>
  <Slides>12</Slides>
  <Notes>7</Notes>
  <TotalTime>3</TotalTime>
  <HiddenSlides>7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7">
      <vt:lpstr>Arial</vt:lpstr>
      <vt:lpstr>微软雅黑</vt:lpstr>
      <vt:lpstr>Calibri Light</vt:lpstr>
      <vt:lpstr>Calibri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2023-06-15T16:00:00Z</dcterms:created>
  <dc:creator>iSlide</dc:creator>
  <cp:lastModifiedBy>iSlide</cp:lastModifiedBy>
  <cp:lastPrinted>2023-06-15T16:00:00Z</cp:lastPrinted>
  <dcterms:modified xsi:type="dcterms:W3CDTF">2024-01-12T10:38:59Z</dcterms:modified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a8708338-d13f-4ac7-8945-69282dfd7b90</vt:lpwstr>
  </property>
</Properties>
</file>